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2"/>
  </p:sldMasterIdLst>
  <p:notesMasterIdLst>
    <p:notesMasterId r:id="rId2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71" r:id="rId11"/>
    <p:sldId id="264" r:id="rId12"/>
    <p:sldId id="265" r:id="rId13"/>
    <p:sldId id="266" r:id="rId14"/>
    <p:sldId id="267" r:id="rId15"/>
    <p:sldId id="273" r:id="rId16"/>
    <p:sldId id="274" r:id="rId17"/>
    <p:sldId id="272" r:id="rId18"/>
    <p:sldId id="275" r:id="rId19"/>
    <p:sldId id="276" r:id="rId20"/>
    <p:sldId id="279" r:id="rId21"/>
    <p:sldId id="269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81" d="100"/>
          <a:sy n="81" d="100"/>
        </p:scale>
        <p:origin x="114" y="33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08.09.2026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各位同学，这是我们9月7日在中国农机院北京农机试验站踩点拍摄的场景汇总。本次目的是为昆虫旅馆项目寻找合适的安置点位，请大家看完后在群里积极讨论，提出你的想法和建议。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这是园区的整体导览图，总面积1645亩，功能区非常丰富。大家可以先对整体布局有个概念，后面我们会逐个场景展示，重点关注哪些区域适合放置昆虫旅馆。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这是园区入口 · 耕读乐场景。请大家观察这个场景的特点，思考昆虫旅馆放在这里是否合适？有什么创意玩法？欢迎在群里分享你的想法。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这是林荫大道场景。请大家观察这个场景的特点，思考昆虫旅馆放在这里是否合适？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这是稷下学堂场景。请大家观察这个场景的特点，思考昆虫旅馆放在这里是否合适？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这是二十四节气彩绘墙场景。请大家观察这个场景的特点，思考昆虫旅馆放在这里是否合适？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这是奶牛屋 · 游客接待中心场景。请大家观察这个场景的特点，思考昆虫旅馆放在这里是否合适？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这是散养鸡场 · 林下经济区场景。请大家观察这个场景的特点，思考昆虫旅馆放在这里是否合适？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63C24-3924-CD1C-B504-A34958465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86650C2-B4C9-4FC8-4AE1-852FEFF23C9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D7E1DE-AC28-FC78-0FDC-B39371A00DC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44FCC4B-7E12-ACBC-CD22-B53670EC38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5196B49E-F1ED-7547-D466-A03D71C5F4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这是散养鸡场 · 林下经济区场景。请大家观察这个场景的特点，思考昆虫旅馆放在这里是否合适？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C0CA71-0D49-9798-6EF1-07B9851DD68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3DC7AD-3011-00BF-FFA7-F012510978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6521814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这是阳早寒春故居 · 红色教育区场景。请大家观察这个场景的特点，思考昆虫旅馆放在这里是否合适？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这是信仰大道 · 纪念广场场景。请大家观察这个场景的特点，思考昆虫旅馆放在这里是否合适？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这是老式农机展示区场景。请大家观察这个场景的特点，思考昆虫旅馆放在这里是否合适？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这是作物种植区场景。请大家观察这个场景的特点，思考昆虫旅馆放在这里是否合适？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1D605-9F49-15A4-3367-DBCA4F212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5F3A791-EF76-770E-65DD-6DB0B36FA1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68C12F-7735-9734-90C9-9D3B8CC76E2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B89968E-6413-B717-1D40-BD03173AF4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E63B300-A58A-2114-104F-72DC7CF591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这是作物种植区场景。请大家观察这个场景的特点，思考昆虫旅馆放在这里是否合适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？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618502-641E-1D37-BD2A-588FEB51CB4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08343A-53A8-442F-430E-99FDAE62DC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9953208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0790C-AADA-ACF0-9B2C-F55580E67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F714C89-BFBB-84CC-73ED-B3CF927E893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B92BE4-CF2A-2B0F-9BCC-4E86E43A8D7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FFFE206-1F01-0B3C-9DF8-50930D63C6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80C3F62-D6F4-2EE7-A2A5-9E52FD40C7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这是作物种植区场景。请大家观察这个场景的特点，思考昆虫旅馆放在这里是否合适？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974B13-BE84-704D-1AB6-C5E507EB569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F8EC8E-D95F-7774-0CEC-A05EA62FD4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8902263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CD5B6-8E87-5C13-D8D6-D1932CBA7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54B72D7-FD2A-5F41-930A-20DFDD443B1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438E54-FF47-E7AD-AA1D-D8491A7C75A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1098273-93C0-A6A1-1AC3-AC54FAC22F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422CF5E-D0D3-A80E-5AB9-AD21EE01D0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这是作物种植区场景。请大家观察这个场景的特点，思考昆虫旅馆放在这里是否合适？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05A77D-2214-C91E-EF01-A32857F298F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2A2DB9-B15B-5BF4-CE3A-55FF7B2899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9911307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同学们看完PPT后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可以</a:t>
            </a:r>
            <a:r>
              <a:rPr lang="en-US" sz="1400" b="0" i="0" u="none" strike="noStrike">
                <a:solidFill>
                  <a:srgbClr val="000000"/>
                </a:solidFill>
              </a:rPr>
              <a:t>在群里发言，提出你认为最合适的选址和创意方案。我们会收集大家的想法，后续一起推进昆虫旅馆项目的落地。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jp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F4A3B">
                  <a:alpha val="100000"/>
                </a:srgbClr>
              </a:gs>
              <a:gs pos="100000">
                <a:srgbClr val="2F4A3B">
                  <a:alpha val="85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 t="12646" b="1264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0" y="1016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4281E">
              <a:alpha val="5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032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中国农机院北京农机试验站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317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600" b="1" i="0" u="none" strike="noStrike" dirty="0" err="1">
                <a:solidFill>
                  <a:srgbClr val="C8A44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踩点纪实</a:t>
            </a:r>
            <a:r>
              <a:rPr lang="en-US" sz="2600" b="1" i="0" u="none" strike="noStrike" dirty="0">
                <a:solidFill>
                  <a:srgbClr val="C8A44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 · </a:t>
            </a:r>
            <a:r>
              <a:rPr lang="zh-CN" altLang="en-US" sz="2600" b="1" i="0" u="none" strike="noStrike" dirty="0">
                <a:solidFill>
                  <a:srgbClr val="C8A44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好奇自然 </a:t>
            </a:r>
            <a:r>
              <a:rPr lang="en-US" altLang="zh-CN" sz="2600" b="1" i="0" u="none" strike="noStrike" dirty="0">
                <a:solidFill>
                  <a:srgbClr val="C8A44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· </a:t>
            </a:r>
            <a:r>
              <a:rPr lang="en-US" sz="2600" b="1" i="0" u="none" strike="noStrike" dirty="0" err="1">
                <a:solidFill>
                  <a:srgbClr val="C8A44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昆虫旅馆选址征集</a:t>
            </a:r>
            <a:endParaRPr lang="en-US" sz="1100" dirty="0"/>
          </a:p>
        </p:txBody>
      </p:sp>
      <p:cxnSp>
        <p:nvCxnSpPr>
          <p:cNvPr id="7" name="Connector 7"/>
          <p:cNvCxnSpPr/>
          <p:nvPr/>
        </p:nvCxnSpPr>
        <p:spPr>
          <a:xfrm rot="-17188">
            <a:off x="4826016" y="4057650"/>
            <a:ext cx="254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8A44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8" name="AutoShape 8"/>
          <p:cNvSpPr/>
          <p:nvPr/>
        </p:nvSpPr>
        <p:spPr>
          <a:xfrm>
            <a:off x="1016000" y="43815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好奇自然 × 想象力山谷项目组 · 2026年9月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-2607945" y="5638165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以下为踩点拍摄的园区场景，欢迎大家集思广益，</a:t>
            </a:r>
            <a:endParaRPr lang="en-US" sz="1100"/>
          </a:p>
          <a:p>
            <a:pPr marL="0" indent="0" algn="ctr">
              <a:lnSpc>
                <a:spcPct val="133000"/>
              </a:lnSpc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共同探讨昆虫旅馆的最佳安置位置与创意方案。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35000" y="406400"/>
            <a:ext cx="762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2F4A3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园区概览 · 总面积1645亩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22917">
            <a:off x="635021" y="1035050"/>
            <a:ext cx="190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C8A44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t="2387" b="2387"/>
          <a:stretch>
            <a:fillRect/>
          </a:stretch>
        </p:blipFill>
        <p:spPr>
          <a:xfrm>
            <a:off x="508000" y="1270000"/>
            <a:ext cx="6731000" cy="4826000"/>
          </a:xfrm>
          <a:prstGeom prst="roundRect">
            <a:avLst>
              <a:gd name="adj" fmla="val 2105"/>
            </a:avLst>
          </a:prstGeom>
          <a:noFill/>
          <a:ln w="12700" cap="flat" cmpd="sng">
            <a:solidFill>
              <a:srgbClr val="2F4A3B">
                <a:alpha val="30000"/>
              </a:srgbClr>
            </a:solidFill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0" y="1333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F4A3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中国农机院北京农机试验站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0" y="1841500"/>
            <a:ext cx="406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4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位于北京昌平，紧邻地铁昌平线，交通便利。园区集农业科研、科普教育、红色研学、亲子体验于一体。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0" y="3492500"/>
            <a:ext cx="406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F4A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主要功能区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0" y="3873500"/>
            <a:ext cx="4064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作物科普区 / 精品种植区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市民种植园 / 草莓采摘园</a:t>
            </a:r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奶牛场 / 散养鸡场</a:t>
            </a:r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阳早寒春故居（红色教育）</a:t>
            </a:r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稷下学堂 / 二十四节气彩绘</a:t>
            </a:r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垂钓园 / 玉米迷宫 / 萌宠乐园</a:t>
            </a:r>
          </a:p>
        </p:txBody>
      </p:sp>
      <p:sp>
        <p:nvSpPr>
          <p:cNvPr id="9" name="AutoShape 9"/>
          <p:cNvSpPr/>
          <p:nvPr/>
        </p:nvSpPr>
        <p:spPr>
          <a:xfrm>
            <a:off x="7620000" y="59690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拍摄于2026年9月7日 · 园区入口导览牌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35000" y="355600"/>
            <a:ext cx="101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C8A44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01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397000" y="381000"/>
            <a:ext cx="635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F4A3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园区入口 · 耕读乐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26443">
            <a:off x="635024" y="984250"/>
            <a:ext cx="165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C8A44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t="195" b="195"/>
          <a:stretch>
            <a:fillRect/>
          </a:stretch>
        </p:blipFill>
        <p:spPr>
          <a:xfrm>
            <a:off x="508000" y="1206500"/>
            <a:ext cx="6604000" cy="4953000"/>
          </a:xfrm>
          <a:prstGeom prst="roundRect">
            <a:avLst>
              <a:gd name="adj" fmla="val 2051"/>
            </a:avLst>
          </a:prstGeom>
          <a:noFill/>
          <a:ln w="12700" cap="flat" cmpd="sng">
            <a:solidFill>
              <a:srgbClr val="2F4A3B">
                <a:alpha val="25000"/>
              </a:srgbClr>
            </a:solidFill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7493000" y="12700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F4A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场景介绍</a:t>
            </a:r>
          </a:p>
        </p:txBody>
      </p:sp>
      <p:sp>
        <p:nvSpPr>
          <p:cNvPr id="7" name="AutoShape 7"/>
          <p:cNvSpPr/>
          <p:nvPr/>
        </p:nvSpPr>
        <p:spPr>
          <a:xfrm>
            <a:off x="7493000" y="1651000"/>
            <a:ext cx="419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6000"/>
              </a:lnSpc>
              <a:defRPr/>
            </a:pPr>
            <a:r>
              <a:rPr lang="en-US" sz="1800" b="0" i="0" u="none" strike="noStrike">
                <a:solidFill>
                  <a:srgbClr val="4646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园区主入口，红砖墙配"耕读乐"品牌标识，设有导览图和园区简介牌。是游客进入园区的第一站，人流量大，展示效果好。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493000" y="59690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拍摄于2026年9月7日 · 中国农机院北京农机试验站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1176000" y="6350000"/>
            <a:ext cx="63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B4B4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/ 14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35000" y="355600"/>
            <a:ext cx="101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C8A44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02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397000" y="381000"/>
            <a:ext cx="635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F4A3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林荫大道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26443">
            <a:off x="635024" y="984250"/>
            <a:ext cx="165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C8A44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t="21764" b="21764"/>
          <a:stretch>
            <a:fillRect/>
          </a:stretch>
        </p:blipFill>
        <p:spPr>
          <a:xfrm>
            <a:off x="508000" y="1206500"/>
            <a:ext cx="6604000" cy="4953000"/>
          </a:xfrm>
          <a:prstGeom prst="roundRect">
            <a:avLst>
              <a:gd name="adj" fmla="val 2051"/>
            </a:avLst>
          </a:prstGeom>
          <a:noFill/>
          <a:ln w="12700" cap="flat" cmpd="sng">
            <a:solidFill>
              <a:srgbClr val="2F4A3B">
                <a:alpha val="25000"/>
              </a:srgbClr>
            </a:solidFill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7493000" y="12700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F4A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场景介绍</a:t>
            </a:r>
          </a:p>
        </p:txBody>
      </p:sp>
      <p:sp>
        <p:nvSpPr>
          <p:cNvPr id="7" name="AutoShape 7"/>
          <p:cNvSpPr/>
          <p:nvPr/>
        </p:nvSpPr>
        <p:spPr>
          <a:xfrm>
            <a:off x="7493000" y="1651000"/>
            <a:ext cx="419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6000"/>
              </a:lnSpc>
              <a:defRPr/>
            </a:pPr>
            <a:r>
              <a:rPr lang="en-US" sz="1800" b="0" i="0" u="none" strike="noStrike">
                <a:solidFill>
                  <a:srgbClr val="4646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贯穿园区的主干道，两侧高大乔木形成浓密林荫，环境清幽。路旁设有"国机集团干部教育基地"指示牌，是园区核心动线。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493000" y="59690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拍摄于2026年9月7日 · 中国农机院北京农机试验站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1176000" y="6350000"/>
            <a:ext cx="63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B4B4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/ 14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35000" y="355600"/>
            <a:ext cx="101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C8A44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03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397000" y="381000"/>
            <a:ext cx="635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F4A3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稷下学堂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26443">
            <a:off x="635024" y="984250"/>
            <a:ext cx="165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C8A44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t="21764" b="21764"/>
          <a:stretch>
            <a:fillRect/>
          </a:stretch>
        </p:blipFill>
        <p:spPr>
          <a:xfrm>
            <a:off x="508000" y="1206500"/>
            <a:ext cx="6604000" cy="4953000"/>
          </a:xfrm>
          <a:prstGeom prst="roundRect">
            <a:avLst>
              <a:gd name="adj" fmla="val 2051"/>
            </a:avLst>
          </a:prstGeom>
          <a:noFill/>
          <a:ln w="12700" cap="flat" cmpd="sng">
            <a:solidFill>
              <a:srgbClr val="2F4A3B">
                <a:alpha val="25000"/>
              </a:srgbClr>
            </a:solidFill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7493000" y="12700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F4A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场景介绍</a:t>
            </a:r>
          </a:p>
        </p:txBody>
      </p:sp>
      <p:sp>
        <p:nvSpPr>
          <p:cNvPr id="7" name="AutoShape 7"/>
          <p:cNvSpPr/>
          <p:nvPr/>
        </p:nvSpPr>
        <p:spPr>
          <a:xfrm>
            <a:off x="7493000" y="1651000"/>
            <a:ext cx="419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6000"/>
              </a:lnSpc>
              <a:defRPr/>
            </a:pPr>
            <a:r>
              <a:rPr lang="en-US" sz="1800" b="0" i="0" u="none" strike="noStrike">
                <a:solidFill>
                  <a:srgbClr val="4646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木质牌坊入口，楹联"李耕读承农耕文明，把耒耜享稼穑之乐"。内有彩绘平房，是农耕文化教育的核心区域。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493000" y="59690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拍摄于2026年9月7日 · 中国农机院北京农机试验站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1176000" y="6350000"/>
            <a:ext cx="63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B4B4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/ 14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35000" y="355600"/>
            <a:ext cx="101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C8A44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04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397000" y="381000"/>
            <a:ext cx="635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F4A3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二十四节气彩绘墙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26443">
            <a:off x="635024" y="984250"/>
            <a:ext cx="165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C8A44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t="195" b="195"/>
          <a:stretch>
            <a:fillRect/>
          </a:stretch>
        </p:blipFill>
        <p:spPr>
          <a:xfrm>
            <a:off x="508000" y="1206500"/>
            <a:ext cx="6604000" cy="4953000"/>
          </a:xfrm>
          <a:prstGeom prst="roundRect">
            <a:avLst>
              <a:gd name="adj" fmla="val 2051"/>
            </a:avLst>
          </a:prstGeom>
          <a:noFill/>
          <a:ln w="12700" cap="flat" cmpd="sng">
            <a:solidFill>
              <a:srgbClr val="2F4A3B">
                <a:alpha val="25000"/>
              </a:srgbClr>
            </a:solidFill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7493000" y="12700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F4A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场景介绍</a:t>
            </a:r>
          </a:p>
        </p:txBody>
      </p:sp>
      <p:sp>
        <p:nvSpPr>
          <p:cNvPr id="7" name="AutoShape 7"/>
          <p:cNvSpPr/>
          <p:nvPr/>
        </p:nvSpPr>
        <p:spPr>
          <a:xfrm>
            <a:off x="7493000" y="1651000"/>
            <a:ext cx="419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6000"/>
              </a:lnSpc>
              <a:defRPr/>
            </a:pPr>
            <a:r>
              <a:rPr lang="en-US" sz="1800" b="0" i="0" u="none" strike="noStrike">
                <a:solidFill>
                  <a:srgbClr val="4646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一排平房外墙绘有立春、雨水、惊蛰、清明、谷雨等二十四节气主题彩绘，色彩丰富。房前有高大杨树遮阴，地面有落叶。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493000" y="59690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拍摄于2026年9月7日 · 中国农机院北京农机试验站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1176000" y="6350000"/>
            <a:ext cx="63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B4B4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/ 14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35000" y="355600"/>
            <a:ext cx="101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C8A44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05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397000" y="381000"/>
            <a:ext cx="635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F4A3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奶牛屋 · 游客接待中心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26443">
            <a:off x="635024" y="984250"/>
            <a:ext cx="165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C8A44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t="195" b="195"/>
          <a:stretch>
            <a:fillRect/>
          </a:stretch>
        </p:blipFill>
        <p:spPr>
          <a:xfrm>
            <a:off x="508000" y="1206500"/>
            <a:ext cx="6604000" cy="4953000"/>
          </a:xfrm>
          <a:prstGeom prst="roundRect">
            <a:avLst>
              <a:gd name="adj" fmla="val 2051"/>
            </a:avLst>
          </a:prstGeom>
          <a:noFill/>
          <a:ln w="12700" cap="flat" cmpd="sng">
            <a:solidFill>
              <a:srgbClr val="2F4A3B">
                <a:alpha val="25000"/>
              </a:srgbClr>
            </a:solidFill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7493000" y="12700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F4A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场景介绍</a:t>
            </a:r>
          </a:p>
        </p:txBody>
      </p:sp>
      <p:sp>
        <p:nvSpPr>
          <p:cNvPr id="7" name="AutoShape 7"/>
          <p:cNvSpPr/>
          <p:nvPr/>
        </p:nvSpPr>
        <p:spPr>
          <a:xfrm>
            <a:off x="7493000" y="1651000"/>
            <a:ext cx="419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6000"/>
              </a:lnSpc>
              <a:defRPr/>
            </a:pPr>
            <a:r>
              <a:rPr lang="en-US" sz="1800" b="0" i="0" u="none" strike="noStrike">
                <a:solidFill>
                  <a:srgbClr val="4646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游客接待中心，外墙有蓝天白云和奶牛主题彩绘，门前有奶牛造型座椅。是园区服务枢纽，亲子游客集中。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493000" y="59690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拍摄于2026年9月7日 · 中国农机院北京农机试验站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1176000" y="6350000"/>
            <a:ext cx="63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B4B4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 / 14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35000" y="355600"/>
            <a:ext cx="101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C8A44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06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397000" y="381000"/>
            <a:ext cx="635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F4A3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散养鸡场 · 林下经济区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26443">
            <a:off x="635024" y="984250"/>
            <a:ext cx="165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C8A44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t="195" b="195"/>
          <a:stretch>
            <a:fillRect/>
          </a:stretch>
        </p:blipFill>
        <p:spPr>
          <a:xfrm>
            <a:off x="508000" y="1212399"/>
            <a:ext cx="6604000" cy="4953000"/>
          </a:xfrm>
          <a:prstGeom prst="roundRect">
            <a:avLst>
              <a:gd name="adj" fmla="val 2051"/>
            </a:avLst>
          </a:prstGeom>
          <a:noFill/>
          <a:ln w="12700" cap="flat" cmpd="sng">
            <a:solidFill>
              <a:srgbClr val="2F4A3B">
                <a:alpha val="25000"/>
              </a:srgbClr>
            </a:solidFill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7493000" y="12700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F4A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场景介绍</a:t>
            </a:r>
          </a:p>
        </p:txBody>
      </p:sp>
      <p:sp>
        <p:nvSpPr>
          <p:cNvPr id="7" name="AutoShape 7"/>
          <p:cNvSpPr/>
          <p:nvPr/>
        </p:nvSpPr>
        <p:spPr>
          <a:xfrm>
            <a:off x="7493000" y="1651000"/>
            <a:ext cx="419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6000"/>
              </a:lnSpc>
              <a:defRPr/>
            </a:pPr>
            <a:r>
              <a:rPr lang="en-US" sz="1800" b="0" i="0" u="none" strike="noStrike">
                <a:solidFill>
                  <a:srgbClr val="4646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树林下的散养鸡区域，围网内鸡群自由活动，树木成荫，地面有落叶和杂草，生态环境自然原始。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493000" y="59690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拍摄于2026年9月7日 · 中国农机院北京农机试验站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1176000" y="6350000"/>
            <a:ext cx="63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B4B4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08 / 14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20BD3-7441-B7EF-4C16-45835366D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BE91E6B6-F884-1CF1-2ABE-61B62D0E5268}"/>
              </a:ext>
            </a:extLst>
          </p:cNvPr>
          <p:cNvSpPr/>
          <p:nvPr/>
        </p:nvSpPr>
        <p:spPr>
          <a:xfrm>
            <a:off x="635000" y="355600"/>
            <a:ext cx="101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C8A44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06</a:t>
            </a:r>
            <a:endParaRPr lang="en-US" sz="11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64B4A966-C9D0-5E79-4F49-B2E96EAC754C}"/>
              </a:ext>
            </a:extLst>
          </p:cNvPr>
          <p:cNvSpPr/>
          <p:nvPr/>
        </p:nvSpPr>
        <p:spPr>
          <a:xfrm>
            <a:off x="1397000" y="381000"/>
            <a:ext cx="635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F4A3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散养鸡场 · 林下经济区</a:t>
            </a:r>
            <a:endParaRPr lang="en-US" sz="1100"/>
          </a:p>
        </p:txBody>
      </p:sp>
      <p:cxnSp>
        <p:nvCxnSpPr>
          <p:cNvPr id="4" name="Connector 4">
            <a:extLst>
              <a:ext uri="{FF2B5EF4-FFF2-40B4-BE49-F238E27FC236}">
                <a16:creationId xmlns:a16="http://schemas.microsoft.com/office/drawing/2014/main" id="{2BFAD761-9A99-5071-7743-B0FD487B2131}"/>
              </a:ext>
            </a:extLst>
          </p:cNvPr>
          <p:cNvCxnSpPr/>
          <p:nvPr/>
        </p:nvCxnSpPr>
        <p:spPr>
          <a:xfrm rot="-26443">
            <a:off x="635024" y="984250"/>
            <a:ext cx="165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C8A44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>
            <a:extLst>
              <a:ext uri="{FF2B5EF4-FFF2-40B4-BE49-F238E27FC236}">
                <a16:creationId xmlns:a16="http://schemas.microsoft.com/office/drawing/2014/main" id="{50C3ECED-5720-21E6-DE13-24C27E986EC9}"/>
              </a:ext>
            </a:extLst>
          </p:cNvPr>
          <p:cNvSpPr/>
          <p:nvPr/>
        </p:nvSpPr>
        <p:spPr>
          <a:xfrm>
            <a:off x="7493000" y="12700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F4A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场景介绍</a:t>
            </a: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A31B91E8-4124-AF24-7103-809A9218AE2F}"/>
              </a:ext>
            </a:extLst>
          </p:cNvPr>
          <p:cNvSpPr/>
          <p:nvPr/>
        </p:nvSpPr>
        <p:spPr>
          <a:xfrm>
            <a:off x="7493000" y="1651000"/>
            <a:ext cx="419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6000"/>
              </a:lnSpc>
              <a:defRPr/>
            </a:pPr>
            <a:r>
              <a:rPr lang="en-US" sz="1800" b="0" i="0" u="none" strike="noStrike">
                <a:solidFill>
                  <a:srgbClr val="4646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树林下的散养鸡区域，围网内鸡群自由活动，树木成荫，地面有落叶和杂草，生态环境自然原始。</a:t>
            </a:r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D93D0A5A-A359-06B4-7F2A-0005233B97BC}"/>
              </a:ext>
            </a:extLst>
          </p:cNvPr>
          <p:cNvSpPr/>
          <p:nvPr/>
        </p:nvSpPr>
        <p:spPr>
          <a:xfrm>
            <a:off x="7493000" y="59690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拍摄于2026年9月7日 · 中国农机院北京农机试验站</a:t>
            </a:r>
            <a:endParaRPr lang="en-US" sz="1100"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7077A426-C6BF-DC32-D502-CAF04CE9E286}"/>
              </a:ext>
            </a:extLst>
          </p:cNvPr>
          <p:cNvSpPr/>
          <p:nvPr/>
        </p:nvSpPr>
        <p:spPr>
          <a:xfrm>
            <a:off x="11176000" y="6350000"/>
            <a:ext cx="63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B4B4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08 / 14</a:t>
            </a:r>
            <a:endParaRPr lang="en-US" sz="110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98C8ADA-B222-217C-0156-0F5AB733A0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998" y="1356850"/>
            <a:ext cx="6657531" cy="4993149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4934DD4D-D0EA-7AB1-DF70-81A1FD13A4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2998" y="63496"/>
            <a:ext cx="4191002" cy="3143251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A28E77F5-95A0-E329-6377-F4DB43AEF9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2999" y="3206748"/>
            <a:ext cx="4191001" cy="3143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9996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35000" y="355600"/>
            <a:ext cx="101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C8A44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07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397000" y="381000"/>
            <a:ext cx="635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F4A3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阳早寒春故居 · 红色教育区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26443">
            <a:off x="635024" y="984250"/>
            <a:ext cx="165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C8A44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t="195" b="195"/>
          <a:stretch>
            <a:fillRect/>
          </a:stretch>
        </p:blipFill>
        <p:spPr>
          <a:xfrm>
            <a:off x="508000" y="1206500"/>
            <a:ext cx="6604000" cy="4953000"/>
          </a:xfrm>
          <a:prstGeom prst="roundRect">
            <a:avLst>
              <a:gd name="adj" fmla="val 2051"/>
            </a:avLst>
          </a:prstGeom>
          <a:noFill/>
          <a:ln w="12700" cap="flat" cmpd="sng">
            <a:solidFill>
              <a:srgbClr val="2F4A3B">
                <a:alpha val="25000"/>
              </a:srgbClr>
            </a:solidFill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7493000" y="12700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F4A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场景介绍</a:t>
            </a:r>
          </a:p>
        </p:txBody>
      </p:sp>
      <p:sp>
        <p:nvSpPr>
          <p:cNvPr id="7" name="AutoShape 7"/>
          <p:cNvSpPr/>
          <p:nvPr/>
        </p:nvSpPr>
        <p:spPr>
          <a:xfrm>
            <a:off x="7493000" y="1651000"/>
            <a:ext cx="419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6000"/>
              </a:lnSpc>
              <a:defRPr/>
            </a:pPr>
            <a:r>
              <a:rPr lang="en-US" sz="1800" b="0" i="0" u="none" strike="noStrike">
                <a:solidFill>
                  <a:srgbClr val="4646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国际共产主义战士阳早、寒春的故居，红砖建筑配砖拱门，旁有人物简介牌。是红色教育基地的核心区域。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493000" y="59690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拍摄于2026年9月7日 · 中国农机院北京农机试验站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1176000" y="6350000"/>
            <a:ext cx="63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B4B4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09 / 14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35000" y="355600"/>
            <a:ext cx="101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C8A44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08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397000" y="381000"/>
            <a:ext cx="635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F4A3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信仰大道 · 纪念广场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26443">
            <a:off x="635024" y="984250"/>
            <a:ext cx="165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C8A44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t="21764" b="21764"/>
          <a:stretch>
            <a:fillRect/>
          </a:stretch>
        </p:blipFill>
        <p:spPr>
          <a:xfrm>
            <a:off x="508000" y="1206500"/>
            <a:ext cx="6604000" cy="4953000"/>
          </a:xfrm>
          <a:prstGeom prst="roundRect">
            <a:avLst>
              <a:gd name="adj" fmla="val 2051"/>
            </a:avLst>
          </a:prstGeom>
          <a:noFill/>
          <a:ln w="12700" cap="flat" cmpd="sng">
            <a:solidFill>
              <a:srgbClr val="2F4A3B">
                <a:alpha val="25000"/>
              </a:srgbClr>
            </a:solidFill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7493000" y="12700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F4A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场景介绍</a:t>
            </a:r>
          </a:p>
        </p:txBody>
      </p:sp>
      <p:sp>
        <p:nvSpPr>
          <p:cNvPr id="7" name="AutoShape 7"/>
          <p:cNvSpPr/>
          <p:nvPr/>
        </p:nvSpPr>
        <p:spPr>
          <a:xfrm>
            <a:off x="7493000" y="1651000"/>
            <a:ext cx="419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6000"/>
              </a:lnSpc>
              <a:defRPr/>
            </a:pPr>
            <a:r>
              <a:rPr lang="en-US" sz="1800" b="0" i="0" u="none" strike="noStrike">
                <a:solidFill>
                  <a:srgbClr val="4646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红色主题步道，通往纪念广场，两侧绿树成荫，设有指示牌。环境庄重而宁静，植被覆盖率高。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493000" y="59690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拍摄于2026年9月7日 · 中国农机院北京农机试验站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1176000" y="6350000"/>
            <a:ext cx="63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B4B4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 / 14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35000" y="355600"/>
            <a:ext cx="101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C8A44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09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397000" y="381000"/>
            <a:ext cx="635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F4A3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老式农机展示区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26443">
            <a:off x="635024" y="984250"/>
            <a:ext cx="165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C8A44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l="19" r="19"/>
          <a:stretch>
            <a:fillRect/>
          </a:stretch>
        </p:blipFill>
        <p:spPr>
          <a:xfrm>
            <a:off x="508000" y="1206500"/>
            <a:ext cx="6604000" cy="4953000"/>
          </a:xfrm>
          <a:prstGeom prst="roundRect">
            <a:avLst>
              <a:gd name="adj" fmla="val 2051"/>
            </a:avLst>
          </a:prstGeom>
          <a:noFill/>
          <a:ln w="12700" cap="flat" cmpd="sng">
            <a:solidFill>
              <a:srgbClr val="2F4A3B">
                <a:alpha val="25000"/>
              </a:srgbClr>
            </a:solidFill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7493000" y="12700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F4A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场景介绍</a:t>
            </a:r>
          </a:p>
        </p:txBody>
      </p:sp>
      <p:sp>
        <p:nvSpPr>
          <p:cNvPr id="7" name="AutoShape 7"/>
          <p:cNvSpPr/>
          <p:nvPr/>
        </p:nvSpPr>
        <p:spPr>
          <a:xfrm>
            <a:off x="7493000" y="1651000"/>
            <a:ext cx="419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6000"/>
              </a:lnSpc>
              <a:defRPr/>
            </a:pPr>
            <a:r>
              <a:rPr lang="en-US" sz="1800" b="0" i="0" u="none" strike="noStrike">
                <a:solidFill>
                  <a:srgbClr val="4646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露天展示的老式耕地农机，锈迹斑斑，旁边是杂草和玉米地，远处有树林。充满工业遗存与自然交融的独特氛围。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493000" y="59690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拍摄于2026年9月7日 · 中国农机院北京农机试验站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1176000" y="6350000"/>
            <a:ext cx="63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B4B4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11 / 14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35000" y="355600"/>
            <a:ext cx="101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C8A44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10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397000" y="381000"/>
            <a:ext cx="635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F4A3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作物种植区 · 玉米</a:t>
            </a:r>
            <a:r>
              <a:rPr lang="zh-CN" altLang="en-US" sz="2400" b="1" i="0" u="none" strike="noStrike">
                <a:solidFill>
                  <a:srgbClr val="2F4A3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、西瓜</a:t>
            </a:r>
            <a:r>
              <a:rPr lang="en-US" sz="2400" b="1" i="0" u="none" strike="noStrike">
                <a:solidFill>
                  <a:srgbClr val="2F4A3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地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26443">
            <a:off x="635024" y="984250"/>
            <a:ext cx="165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C8A44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l="19" r="19"/>
          <a:stretch>
            <a:fillRect/>
          </a:stretch>
        </p:blipFill>
        <p:spPr>
          <a:xfrm>
            <a:off x="508000" y="1206500"/>
            <a:ext cx="6604000" cy="4953000"/>
          </a:xfrm>
          <a:prstGeom prst="roundRect">
            <a:avLst>
              <a:gd name="adj" fmla="val 2051"/>
            </a:avLst>
          </a:prstGeom>
          <a:noFill/>
          <a:ln w="12700" cap="flat" cmpd="sng">
            <a:solidFill>
              <a:srgbClr val="2F4A3B">
                <a:alpha val="25000"/>
              </a:srgbClr>
            </a:solidFill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7493000" y="12700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F4A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场景介绍</a:t>
            </a:r>
          </a:p>
        </p:txBody>
      </p:sp>
      <p:sp>
        <p:nvSpPr>
          <p:cNvPr id="7" name="AutoShape 7"/>
          <p:cNvSpPr/>
          <p:nvPr/>
        </p:nvSpPr>
        <p:spPr>
          <a:xfrm>
            <a:off x="7493000" y="1651000"/>
            <a:ext cx="419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6000"/>
              </a:lnSpc>
              <a:defRPr/>
            </a:pPr>
            <a:r>
              <a:rPr lang="en-US" sz="1800" b="0" i="0" u="none" strike="noStrike">
                <a:solidFill>
                  <a:srgbClr val="4646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林荫道旁的玉米</a:t>
            </a:r>
            <a:r>
              <a:rPr lang="zh-CN" altLang="en-US" sz="1800" b="0" i="0" u="none" strike="noStrike">
                <a:solidFill>
                  <a:srgbClr val="4646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和西瓜</a:t>
            </a:r>
            <a:r>
              <a:rPr lang="en-US" sz="1800" b="0" i="0" u="none" strike="noStrike">
                <a:solidFill>
                  <a:srgbClr val="4646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种植田，作物长势良好，与行道树形成自然与农业交织的景观。农田生态系统完整。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493000" y="59690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拍摄于2026年9月7日 · 中国农机院北京农机试验站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1176000" y="6350000"/>
            <a:ext cx="63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B4B4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12 / 14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AAF9B-5979-2223-B848-04883EFB7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3CDA12DD-A513-2BC0-1EDF-3432AB7DF6C1}"/>
              </a:ext>
            </a:extLst>
          </p:cNvPr>
          <p:cNvSpPr/>
          <p:nvPr/>
        </p:nvSpPr>
        <p:spPr>
          <a:xfrm>
            <a:off x="635000" y="355600"/>
            <a:ext cx="101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C8A44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10</a:t>
            </a:r>
            <a:endParaRPr lang="en-US" sz="11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7322851A-DB35-CAA2-82DF-B58035DF46C0}"/>
              </a:ext>
            </a:extLst>
          </p:cNvPr>
          <p:cNvSpPr/>
          <p:nvPr/>
        </p:nvSpPr>
        <p:spPr>
          <a:xfrm>
            <a:off x="1397000" y="381000"/>
            <a:ext cx="635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400" b="1" i="0" u="none" strike="noStrike" dirty="0">
                <a:solidFill>
                  <a:srgbClr val="2F4A3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养牛场</a:t>
            </a:r>
            <a:endParaRPr lang="en-US" sz="1100" dirty="0"/>
          </a:p>
        </p:txBody>
      </p:sp>
      <p:cxnSp>
        <p:nvCxnSpPr>
          <p:cNvPr id="4" name="Connector 4">
            <a:extLst>
              <a:ext uri="{FF2B5EF4-FFF2-40B4-BE49-F238E27FC236}">
                <a16:creationId xmlns:a16="http://schemas.microsoft.com/office/drawing/2014/main" id="{4845471E-BFEE-F532-3923-1E380FBCF6D8}"/>
              </a:ext>
            </a:extLst>
          </p:cNvPr>
          <p:cNvCxnSpPr/>
          <p:nvPr/>
        </p:nvCxnSpPr>
        <p:spPr>
          <a:xfrm rot="-26443">
            <a:off x="635024" y="984250"/>
            <a:ext cx="165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C8A44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>
            <a:extLst>
              <a:ext uri="{FF2B5EF4-FFF2-40B4-BE49-F238E27FC236}">
                <a16:creationId xmlns:a16="http://schemas.microsoft.com/office/drawing/2014/main" id="{F1EC9414-47F2-C7EB-0F10-61BCB5181809}"/>
              </a:ext>
            </a:extLst>
          </p:cNvPr>
          <p:cNvSpPr/>
          <p:nvPr/>
        </p:nvSpPr>
        <p:spPr>
          <a:xfrm>
            <a:off x="7493000" y="60325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2F4A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场景介绍</a:t>
            </a:r>
            <a:endParaRPr lang="en-US" sz="2000" b="1" i="0" u="none" strike="noStrike" dirty="0">
              <a:solidFill>
                <a:srgbClr val="2F4A3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0E441E15-D022-2A47-CC32-0A5D5E4A6E6E}"/>
              </a:ext>
            </a:extLst>
          </p:cNvPr>
          <p:cNvSpPr/>
          <p:nvPr/>
        </p:nvSpPr>
        <p:spPr>
          <a:xfrm>
            <a:off x="7493000" y="1200150"/>
            <a:ext cx="419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6000"/>
              </a:lnSpc>
              <a:defRPr/>
            </a:pPr>
            <a:r>
              <a:rPr lang="zh-CN" altLang="en-US" sz="1800" dirty="0">
                <a:solidFill>
                  <a:srgbClr val="4646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种牛基地，是农机站的核心业务，是功臣牛。</a:t>
            </a:r>
            <a:endParaRPr lang="en-US" altLang="zh-CN" sz="1800" dirty="0">
              <a:solidFill>
                <a:srgbClr val="46464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6000"/>
              </a:lnSpc>
              <a:defRPr/>
            </a:pPr>
            <a:r>
              <a:rPr lang="zh-CN" altLang="en-US" sz="1800" dirty="0">
                <a:solidFill>
                  <a:srgbClr val="4646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从牛出生到成牛，有各个阶段的专业饲养棚。</a:t>
            </a:r>
            <a:endParaRPr lang="en-US" sz="1800" b="0" i="0" u="none" strike="noStrike" dirty="0">
              <a:solidFill>
                <a:srgbClr val="46464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3C337F9F-A8AD-9BB2-A2CC-1F07D9A9A800}"/>
              </a:ext>
            </a:extLst>
          </p:cNvPr>
          <p:cNvSpPr/>
          <p:nvPr/>
        </p:nvSpPr>
        <p:spPr>
          <a:xfrm>
            <a:off x="7493000" y="59690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拍摄于2026年9月7日 · 中国农机院北京农机试验站</a:t>
            </a:r>
            <a:endParaRPr lang="en-US" sz="1100"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50E836EB-6260-12B5-56DF-75FD74CC13EF}"/>
              </a:ext>
            </a:extLst>
          </p:cNvPr>
          <p:cNvSpPr/>
          <p:nvPr/>
        </p:nvSpPr>
        <p:spPr>
          <a:xfrm>
            <a:off x="11176000" y="6350000"/>
            <a:ext cx="63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B4B4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12 / 14</a:t>
            </a:r>
            <a:endParaRPr lang="en-US" sz="110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9B130E7-B05B-A018-F36F-38AC13309B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143000"/>
            <a:ext cx="6784259" cy="5088194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C6C864A5-04D6-8E67-1E70-F4E8C377A2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8633" y="3086100"/>
            <a:ext cx="4639733" cy="347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1757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E8D61-1B27-0A31-DC66-CBDC3A2A2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32718B95-D7D2-277D-7DF1-7B76CFB3C603}"/>
              </a:ext>
            </a:extLst>
          </p:cNvPr>
          <p:cNvSpPr/>
          <p:nvPr/>
        </p:nvSpPr>
        <p:spPr>
          <a:xfrm>
            <a:off x="635000" y="355600"/>
            <a:ext cx="101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C8A44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10</a:t>
            </a:r>
            <a:endParaRPr lang="en-US" sz="11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997C92C7-B5D7-02ED-D21D-A50E7679D2B2}"/>
              </a:ext>
            </a:extLst>
          </p:cNvPr>
          <p:cNvSpPr/>
          <p:nvPr/>
        </p:nvSpPr>
        <p:spPr>
          <a:xfrm>
            <a:off x="1397000" y="381000"/>
            <a:ext cx="635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400" b="1" i="0" u="none" strike="noStrike" dirty="0">
                <a:solidFill>
                  <a:srgbClr val="2F4A3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养牛场</a:t>
            </a:r>
            <a:endParaRPr lang="en-US" sz="1100" dirty="0"/>
          </a:p>
        </p:txBody>
      </p:sp>
      <p:cxnSp>
        <p:nvCxnSpPr>
          <p:cNvPr id="4" name="Connector 4">
            <a:extLst>
              <a:ext uri="{FF2B5EF4-FFF2-40B4-BE49-F238E27FC236}">
                <a16:creationId xmlns:a16="http://schemas.microsoft.com/office/drawing/2014/main" id="{C6A0EBCB-615A-35C3-4E7E-6D5194FE1484}"/>
              </a:ext>
            </a:extLst>
          </p:cNvPr>
          <p:cNvCxnSpPr/>
          <p:nvPr/>
        </p:nvCxnSpPr>
        <p:spPr>
          <a:xfrm rot="-26443">
            <a:off x="635024" y="984250"/>
            <a:ext cx="165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C8A44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>
            <a:extLst>
              <a:ext uri="{FF2B5EF4-FFF2-40B4-BE49-F238E27FC236}">
                <a16:creationId xmlns:a16="http://schemas.microsoft.com/office/drawing/2014/main" id="{FEF69989-4570-0554-EDEB-39A915D15D94}"/>
              </a:ext>
            </a:extLst>
          </p:cNvPr>
          <p:cNvSpPr/>
          <p:nvPr/>
        </p:nvSpPr>
        <p:spPr>
          <a:xfrm>
            <a:off x="7493000" y="12700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F4A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场景介绍</a:t>
            </a: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95ACF919-AE10-944A-3818-16CF87D53387}"/>
              </a:ext>
            </a:extLst>
          </p:cNvPr>
          <p:cNvSpPr/>
          <p:nvPr/>
        </p:nvSpPr>
        <p:spPr>
          <a:xfrm>
            <a:off x="7493000" y="1651000"/>
            <a:ext cx="419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6000"/>
              </a:lnSpc>
              <a:defRPr/>
            </a:pPr>
            <a:r>
              <a:rPr lang="zh-CN" altLang="en-US" sz="1800" dirty="0">
                <a:solidFill>
                  <a:srgbClr val="4646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左图是出生</a:t>
            </a:r>
            <a:r>
              <a:rPr lang="en-US" altLang="zh-CN" sz="1800" dirty="0">
                <a:solidFill>
                  <a:srgbClr val="4646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</a:t>
            </a:r>
            <a:r>
              <a:rPr lang="zh-CN" altLang="en-US" sz="1800" dirty="0">
                <a:solidFill>
                  <a:srgbClr val="4646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个月左右的小牛。</a:t>
            </a:r>
            <a:endParaRPr lang="en-US" altLang="zh-CN" sz="1800" dirty="0">
              <a:solidFill>
                <a:srgbClr val="46464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6000"/>
              </a:lnSpc>
              <a:defRPr/>
            </a:pPr>
            <a:r>
              <a:rPr lang="zh-CN" altLang="en-US" sz="1800" b="0" i="0" u="none" strike="noStrike" dirty="0">
                <a:solidFill>
                  <a:srgbClr val="4646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下图是挤奶车间。</a:t>
            </a:r>
            <a:endParaRPr lang="en-US" sz="1800" b="0" i="0" u="none" strike="noStrike" dirty="0">
              <a:solidFill>
                <a:srgbClr val="46464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B493C0F3-3258-A626-F2FA-6669E135CAE9}"/>
              </a:ext>
            </a:extLst>
          </p:cNvPr>
          <p:cNvSpPr/>
          <p:nvPr/>
        </p:nvSpPr>
        <p:spPr>
          <a:xfrm>
            <a:off x="7493000" y="59690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拍摄于2026年9月7日 · 中国农机院北京农机试验站</a:t>
            </a:r>
            <a:endParaRPr lang="en-US" sz="1100"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A10862BE-C7D9-9F1C-0EDD-39ECD2B9047E}"/>
              </a:ext>
            </a:extLst>
          </p:cNvPr>
          <p:cNvSpPr/>
          <p:nvPr/>
        </p:nvSpPr>
        <p:spPr>
          <a:xfrm>
            <a:off x="11176000" y="6350000"/>
            <a:ext cx="63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B4B4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12 / 14</a:t>
            </a:r>
            <a:endParaRPr lang="en-US" sz="110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0D2A10A-2388-F14A-07F0-4DE0522BCF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022" y="1371600"/>
            <a:ext cx="6702978" cy="5027234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608C7796-86CB-6644-85D2-B6984C8D94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8675" y="3120757"/>
            <a:ext cx="4398953" cy="3299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808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94A7EC5-6269-02E6-85FB-E0E378B133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212" y="0"/>
            <a:ext cx="91475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4824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38283F0-A569-FD68-BA83-85AAD4842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212" y="0"/>
            <a:ext cx="91475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8650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9A58B-7BF0-D378-4D6F-2C1A3E3B5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00B2595-8569-32ED-0C4B-6DA6169964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212" y="0"/>
            <a:ext cx="91475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7061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05B84-F907-CFEA-8404-9C70D0C51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697466F4-7283-EFC0-91C7-23059C9AD508}"/>
              </a:ext>
            </a:extLst>
          </p:cNvPr>
          <p:cNvSpPr/>
          <p:nvPr/>
        </p:nvSpPr>
        <p:spPr>
          <a:xfrm>
            <a:off x="635000" y="355600"/>
            <a:ext cx="101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 dirty="0">
                <a:solidFill>
                  <a:srgbClr val="C8A44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11</a:t>
            </a:r>
            <a:endParaRPr lang="en-US" sz="1100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7FBD667F-76CD-B348-F75F-8675AA69CE8A}"/>
              </a:ext>
            </a:extLst>
          </p:cNvPr>
          <p:cNvSpPr/>
          <p:nvPr/>
        </p:nvSpPr>
        <p:spPr>
          <a:xfrm>
            <a:off x="1397000" y="381000"/>
            <a:ext cx="635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400" b="1" dirty="0">
                <a:solidFill>
                  <a:srgbClr val="2F4A3B"/>
                </a:solidFill>
                <a:latin typeface="Noto Serif SC" panose="02020200000000000000" charset="-122"/>
                <a:ea typeface="Noto Serif SC" panose="02020200000000000000" charset="-122"/>
                <a:sym typeface="Noto Serif SC" panose="02020200000000000000" charset="-122"/>
              </a:rPr>
              <a:t>农机站与北邮之间</a:t>
            </a:r>
            <a:endParaRPr lang="en-US" sz="1100" dirty="0"/>
          </a:p>
        </p:txBody>
      </p:sp>
      <p:cxnSp>
        <p:nvCxnSpPr>
          <p:cNvPr id="4" name="Connector 4">
            <a:extLst>
              <a:ext uri="{FF2B5EF4-FFF2-40B4-BE49-F238E27FC236}">
                <a16:creationId xmlns:a16="http://schemas.microsoft.com/office/drawing/2014/main" id="{3FC2C139-FC9F-71B5-A41A-E05AA9D8F03E}"/>
              </a:ext>
            </a:extLst>
          </p:cNvPr>
          <p:cNvCxnSpPr/>
          <p:nvPr/>
        </p:nvCxnSpPr>
        <p:spPr>
          <a:xfrm rot="-26443">
            <a:off x="635024" y="984250"/>
            <a:ext cx="165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C8A44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>
            <a:extLst>
              <a:ext uri="{FF2B5EF4-FFF2-40B4-BE49-F238E27FC236}">
                <a16:creationId xmlns:a16="http://schemas.microsoft.com/office/drawing/2014/main" id="{7A8542F0-8F35-6A2E-108B-DBBACE3AB51D}"/>
              </a:ext>
            </a:extLst>
          </p:cNvPr>
          <p:cNvSpPr/>
          <p:nvPr/>
        </p:nvSpPr>
        <p:spPr>
          <a:xfrm>
            <a:off x="7493000" y="12700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F4A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场景介绍</a:t>
            </a: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4B43AEBE-2110-62EE-2306-FCAD5C9C53C7}"/>
              </a:ext>
            </a:extLst>
          </p:cNvPr>
          <p:cNvSpPr/>
          <p:nvPr/>
        </p:nvSpPr>
        <p:spPr>
          <a:xfrm>
            <a:off x="7493000" y="1308790"/>
            <a:ext cx="419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6000"/>
              </a:lnSpc>
              <a:defRPr/>
            </a:pPr>
            <a:r>
              <a:rPr lang="zh-CN" altLang="en-US" sz="1800" b="0" i="0" u="none" strike="noStrike" dirty="0">
                <a:solidFill>
                  <a:srgbClr val="4646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农机站与北邮之间，有一片荒地。</a:t>
            </a:r>
            <a:endParaRPr lang="en-US" sz="1800" b="0" i="0" u="none" strike="noStrike" dirty="0">
              <a:solidFill>
                <a:srgbClr val="46464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6EF4669A-C258-1644-053D-AF0907716503}"/>
              </a:ext>
            </a:extLst>
          </p:cNvPr>
          <p:cNvSpPr/>
          <p:nvPr/>
        </p:nvSpPr>
        <p:spPr>
          <a:xfrm>
            <a:off x="11176000" y="6350000"/>
            <a:ext cx="63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B4B4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12 / 14</a:t>
            </a:r>
            <a:endParaRPr lang="en-US" sz="110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74DA281-35D3-AB22-4FB6-2AD348BC1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081" y="1270000"/>
            <a:ext cx="6780836" cy="508364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E0283636-3ABF-A847-466D-E8882C153A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7179" y="2689450"/>
            <a:ext cx="4882642" cy="366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4589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F4A3B">
                <a:alpha val="100000"/>
              </a:srgbClr>
            </a:gs>
            <a:gs pos="100000">
              <a:srgbClr val="2F4A3B">
                <a:alpha val="9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1270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邀请大家集思广益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17188">
            <a:off x="4826016" y="2279650"/>
            <a:ext cx="254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8A44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1524000" y="2667000"/>
            <a:ext cx="914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33000"/>
              </a:lnSpc>
              <a:defRPr/>
            </a:pPr>
            <a:r>
              <a:rPr lang="en-US" sz="1600" b="0" i="0" u="none" strike="noStrike" dirty="0" err="1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看完以上场景，你觉得昆虫旅馆放在哪里合适</a:t>
            </a:r>
            <a:r>
              <a:rPr lang="en-US" sz="16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？</a:t>
            </a:r>
            <a:r>
              <a:rPr lang="zh-CN" altLang="en-US" sz="16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有何种观测价值？</a:t>
            </a:r>
            <a:endParaRPr lang="en-US" altLang="zh-CN" sz="1600" b="0" i="0" u="none" strike="noStrike" dirty="0">
              <a:solidFill>
                <a:srgbClr val="FFFFFF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ctr">
              <a:lnSpc>
                <a:spcPct val="133000"/>
              </a:lnSpc>
              <a:defRPr/>
            </a:pPr>
            <a:r>
              <a:rPr lang="zh-CN" altLang="en-US" sz="16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有没有其他好奇自然项目的其他可能？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1524000" y="3429000"/>
            <a:ext cx="914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C8A4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讨论方向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286000" y="3937000"/>
            <a:ext cx="762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8000"/>
              </a:lnSpc>
              <a:defRPr/>
            </a:pPr>
            <a:r>
              <a:rPr lang="en-US" sz="1400" b="0" i="0" u="none" strike="noStrike" dirty="0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哪</a:t>
            </a:r>
            <a:r>
              <a:rPr lang="zh-CN" altLang="en-US" sz="1400" b="0" i="0" u="none" strike="noStrike" dirty="0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些</a:t>
            </a:r>
            <a:r>
              <a:rPr lang="en-US" sz="1400" b="0" i="0" u="none" strike="noStrike" dirty="0" err="1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场景的自然环境适合昆虫栖息</a:t>
            </a:r>
            <a:r>
              <a:rPr lang="en-US" sz="1400" b="0" i="0" u="none" strike="noStrike" dirty="0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？</a:t>
            </a:r>
            <a:r>
              <a:rPr lang="zh-CN" altLang="en-US" sz="1400" b="0" i="0" u="none" strike="noStrike" dirty="0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不同场景有何种观测需求？</a:t>
            </a:r>
            <a:endParaRPr lang="en-US" sz="1100" dirty="0"/>
          </a:p>
          <a:p>
            <a:pPr marL="0" indent="0" algn="l">
              <a:lnSpc>
                <a:spcPct val="158000"/>
              </a:lnSpc>
            </a:pPr>
            <a:r>
              <a:rPr lang="en-US" sz="1400" b="0" i="0" u="none" strike="noStrike" dirty="0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哪</a:t>
            </a:r>
            <a:r>
              <a:rPr lang="zh-CN" altLang="en-US" sz="1400" b="0" i="0" u="none" strike="noStrike" dirty="0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些</a:t>
            </a:r>
            <a:r>
              <a:rPr lang="en-US" sz="1400" b="0" i="0" u="none" strike="noStrike" dirty="0" err="1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位置人流量大、展示效果好</a:t>
            </a:r>
            <a:r>
              <a:rPr lang="en-US" sz="1400" b="0" i="0" u="none" strike="noStrike" dirty="0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？</a:t>
            </a:r>
          </a:p>
          <a:p>
            <a:pPr marL="0" indent="0" algn="l">
              <a:lnSpc>
                <a:spcPct val="158000"/>
              </a:lnSpc>
            </a:pPr>
            <a:r>
              <a:rPr lang="en-US" sz="1400" b="0" i="0" u="none" strike="noStrike" dirty="0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</a:t>
            </a:r>
            <a:r>
              <a:rPr lang="en-US" sz="1400" b="0" i="0" u="none" strike="noStrike" dirty="0" err="1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昆虫旅馆可以和哪些现有项目结合</a:t>
            </a:r>
            <a:r>
              <a:rPr lang="en-US" sz="1400" b="0" i="0" u="none" strike="noStrike" dirty="0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？ </a:t>
            </a:r>
            <a:r>
              <a:rPr lang="en-US" sz="1400" b="0" i="0" u="none" strike="noStrike" dirty="0" err="1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有没有更有创意的安置方式或互动设计</a:t>
            </a:r>
            <a:r>
              <a:rPr lang="en-US" sz="1400" b="0" i="0" u="none" strike="noStrike" dirty="0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？</a:t>
            </a:r>
          </a:p>
          <a:p>
            <a:pPr>
              <a:lnSpc>
                <a:spcPct val="158000"/>
              </a:lnSpc>
            </a:pPr>
            <a:r>
              <a:rPr lang="en-US" altLang="zh-CN" dirty="0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</a:t>
            </a:r>
            <a:r>
              <a:rPr lang="zh-CN" altLang="en-US" dirty="0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有没有其他的观测目标</a:t>
            </a:r>
            <a:r>
              <a:rPr lang="en-US" altLang="zh-CN" dirty="0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？</a:t>
            </a:r>
          </a:p>
          <a:p>
            <a:pPr marL="0" indent="0" algn="l">
              <a:lnSpc>
                <a:spcPct val="158000"/>
              </a:lnSpc>
            </a:pPr>
            <a:endParaRPr lang="en-US" sz="1400" b="0" i="0" u="none" strike="noStrike" dirty="0">
              <a:solidFill>
                <a:srgbClr val="FFFFFF">
                  <a:alpha val="85098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524000" y="5715000"/>
            <a:ext cx="914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请在群里分享你的想法和建议，我们一起把好奇自然项目做起来！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63500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5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好奇自然 × 想象力山谷项目组 · 2026年9月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</TotalTime>
  <Words>778</Words>
  <Application>Microsoft Office PowerPoint</Application>
  <PresentationFormat>宽屏</PresentationFormat>
  <Paragraphs>162</Paragraphs>
  <Slides>20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25" baseType="lpstr">
      <vt:lpstr>Noto Sans SC</vt:lpstr>
      <vt:lpstr>Noto Serif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connection azalea</cp:lastModifiedBy>
  <cp:revision>2</cp:revision>
  <dcterms:created xsi:type="dcterms:W3CDTF">2026-09-08T03:18:59Z</dcterms:created>
  <dcterms:modified xsi:type="dcterms:W3CDTF">2026-09-08T08:13:49Z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A36549A9DBD64AADB41DAF34F54950AF_13</vt:lpwstr>
  </property>
</Properties>
</file>