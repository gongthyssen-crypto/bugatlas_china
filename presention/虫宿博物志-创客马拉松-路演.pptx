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7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5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想象力山谷  ·  好奇自然"/>
          <p:cNvSpPr>
            <a:spLocks noGrp="1"/>
          </p:cNvSpPr>
          <p:nvPr/>
        </p:nvSpPr>
        <p:spPr>
          <a:xfrm>
            <a:off x="695325" y="1000125"/>
            <a:ext cx="53435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想象力山谷  ·  好奇自然</a:t>
            </a:r>
            <a:endParaRPr sz="13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虫宿博物志"/>
          <p:cNvSpPr>
            <a:spLocks noGrp="1"/>
          </p:cNvSpPr>
          <p:nvPr/>
        </p:nvSpPr>
        <p:spPr>
          <a:xfrm>
            <a:off x="666750" y="1857375"/>
            <a:ext cx="61912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53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53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虫宿博物志</a:t>
            </a:r>
            <a:endParaRPr sz="53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4" name="BugAtlas-China"/>
          <p:cNvSpPr>
            <a:spLocks noGrp="1"/>
          </p:cNvSpPr>
          <p:nvPr/>
        </p:nvSpPr>
        <p:spPr>
          <a:xfrm>
            <a:off x="704850" y="2752725"/>
            <a:ext cx="5381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7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BugAtlas-China</a:t>
            </a:r>
            <a:endParaRPr sz="277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智能昆虫旅馆创客马拉松"/>
          <p:cNvSpPr>
            <a:spLocks noGrp="1"/>
          </p:cNvSpPr>
          <p:nvPr/>
        </p:nvSpPr>
        <p:spPr>
          <a:xfrm>
            <a:off x="695325" y="3533775"/>
            <a:ext cx="59340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250" b="1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智能昆虫旅馆创客马拉松</a:t>
            </a:r>
            <a:endParaRPr sz="2250" b="1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为乡村和城里的孩子，&#10;共同设计一堂“好奇"/>
          <p:cNvSpPr>
            <a:spLocks noGrp="1"/>
          </p:cNvSpPr>
          <p:nvPr/>
        </p:nvSpPr>
        <p:spPr>
          <a:xfrm>
            <a:off x="695325" y="4210050"/>
            <a:ext cx="56578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为乡村和城里的孩子，</a:t>
            </a:r>
            <a:endParaRPr sz="1725" b="0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共同设计一堂“好奇自然”课。</a:t>
            </a:r>
            <a:endParaRPr sz="1725" b="0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博物教育   /   城乡共创   / "/>
          <p:cNvSpPr>
            <a:spLocks noGrp="1"/>
          </p:cNvSpPr>
          <p:nvPr/>
        </p:nvSpPr>
        <p:spPr>
          <a:xfrm>
            <a:off x="695325" y="5629275"/>
            <a:ext cx="5562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博物教育   /   城乡共创   /   自然明信片</a:t>
            </a:r>
            <a:endParaRPr sz="127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01 / 13"/>
          <p:cNvSpPr>
            <a:spLocks noGrp="1"/>
          </p:cNvSpPr>
          <p:nvPr/>
        </p:nvSpPr>
        <p:spPr>
          <a:xfrm>
            <a:off x="695325" y="63341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虫宿博物志  BugAtlas-Chin"/>
          <p:cNvSpPr>
            <a:spLocks noGrp="1"/>
          </p:cNvSpPr>
          <p:nvPr/>
        </p:nvSpPr>
        <p:spPr>
          <a:xfrm>
            <a:off x="647700" y="200025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虫宿博物志  BugAtlas-China</a:t>
            </a:r>
            <a:endParaRPr sz="9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02"/>
          <p:cNvSpPr>
            <a:spLocks noGrp="1"/>
          </p:cNvSpPr>
          <p:nvPr/>
        </p:nvSpPr>
        <p:spPr>
          <a:xfrm>
            <a:off x="10572750" y="5476875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6000" b="1">
              <a:solidFill>
                <a:srgbClr val="E8ECE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02 / 13"/>
          <p:cNvSpPr>
            <a:spLocks noGrp="1"/>
          </p:cNvSpPr>
          <p:nvPr/>
        </p:nvSpPr>
        <p:spPr>
          <a:xfrm>
            <a:off x="10858500" y="6505575"/>
            <a:ext cx="9144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 / 活动初衷"/>
          <p:cNvSpPr>
            <a:spLocks noGrp="1"/>
          </p:cNvSpPr>
          <p:nvPr/>
        </p:nvSpPr>
        <p:spPr>
          <a:xfrm>
            <a:off x="647700" y="60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活动初衷</a:t>
            </a:r>
            <a:endParaRPr sz="112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自然很近，观察却很远。"/>
          <p:cNvSpPr>
            <a:spLocks noGrp="1"/>
          </p:cNvSpPr>
          <p:nvPr/>
        </p:nvSpPr>
        <p:spPr>
          <a:xfrm>
            <a:off x="647700" y="981075"/>
            <a:ext cx="9144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7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750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自然很近，</a:t>
            </a:r>
            <a:r>
              <a:rPr sz="4000" b="1">
                <a:solidFill>
                  <a:srgbClr val="B47654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观察</a:t>
            </a:r>
            <a:r>
              <a:rPr sz="3750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却很远</a:t>
            </a:r>
            <a:endParaRPr sz="3750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6" name="从“知道答案”回到“提出问题”"/>
          <p:cNvSpPr>
            <a:spLocks noGrp="1"/>
          </p:cNvSpPr>
          <p:nvPr/>
        </p:nvSpPr>
        <p:spPr>
          <a:xfrm>
            <a:off x="8858250" y="8953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从“知道答案”回到“提出问题”</a:t>
            </a:r>
            <a:endParaRPr sz="12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38175" y="2220595"/>
            <a:ext cx="5219700" cy="3762375"/>
          </a:xfrm>
          <a:prstGeom prst="roundRect">
            <a:avLst>
              <a:gd name="adj" fmla="val 4557"/>
            </a:avLst>
          </a:prstGeom>
          <a:solidFill>
            <a:srgbClr val="F9FAF5"/>
          </a:solidFill>
          <a:ln w="9525">
            <a:solidFill>
              <a:srgbClr val="D7DED2"/>
            </a:solidFill>
          </a:ln>
        </p:spPr>
      </p:sp>
      <p:sp>
        <p:nvSpPr>
          <p:cNvPr id="8" name="THE GAP / 学习断点"/>
          <p:cNvSpPr>
            <a:spLocks noGrp="1"/>
          </p:cNvSpPr>
          <p:nvPr/>
        </p:nvSpPr>
        <p:spPr>
          <a:xfrm>
            <a:off x="923925" y="2496820"/>
            <a:ext cx="33337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GAP / 学习断点</a:t>
            </a:r>
            <a:endParaRPr sz="10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孩子在课本里认识昆虫，&#10;却叫不出校园里一"/>
          <p:cNvSpPr>
            <a:spLocks noGrp="1"/>
          </p:cNvSpPr>
          <p:nvPr/>
        </p:nvSpPr>
        <p:spPr>
          <a:xfrm>
            <a:off x="923925" y="3039745"/>
            <a:ext cx="46291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7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孩子在课本里认识昆虫，</a:t>
            </a:r>
            <a:endParaRPr sz="27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buNone/>
              <a:defRPr sz="27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却叫不出校园里一只虫。</a:t>
            </a:r>
            <a:endParaRPr sz="27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我们想为城乡孩子设计一门“好奇自然”课程"/>
          <p:cNvSpPr>
            <a:spLocks noGrp="1"/>
          </p:cNvSpPr>
          <p:nvPr/>
        </p:nvSpPr>
        <p:spPr>
          <a:xfrm>
            <a:off x="923925" y="4706620"/>
            <a:ext cx="4572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我们想为城乡孩子设计一门“好奇自然”课程，让自然教育从身边一次真实发现开始。</a:t>
            </a:r>
            <a:endParaRPr sz="16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0" y="2220595"/>
            <a:ext cx="5429250" cy="914400"/>
          </a:xfrm>
          <a:prstGeom prst="roundRect">
            <a:avLst>
              <a:gd name="adj" fmla="val 18750"/>
            </a:avLst>
          </a:prstGeom>
          <a:solidFill>
            <a:srgbClr val="F9FAF5"/>
          </a:solidFill>
          <a:ln w="9525">
            <a:solidFill>
              <a:srgbClr val="D7DED2"/>
            </a:solidFill>
          </a:ln>
        </p:spPr>
      </p:sp>
      <p:sp>
        <p:nvSpPr>
          <p:cNvPr id="12" name="昆虫旅馆：方便搭建、住户多样、场景丰富，"/>
          <p:cNvSpPr>
            <a:spLocks noGrp="1"/>
          </p:cNvSpPr>
          <p:nvPr/>
        </p:nvSpPr>
        <p:spPr>
          <a:xfrm>
            <a:off x="6324600" y="2430145"/>
            <a:ext cx="49720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昆虫旅馆：方便搭建、住户多样、场景丰富，便于比较。</a:t>
            </a:r>
            <a:endParaRPr sz="172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0" y="3287395"/>
            <a:ext cx="5429250" cy="762000"/>
          </a:xfrm>
          <a:prstGeom prst="roundRect">
            <a:avLst>
              <a:gd name="adj" fmla="val 22500"/>
            </a:avLst>
          </a:prstGeom>
          <a:solidFill>
            <a:srgbClr val="F9FAF5"/>
          </a:solidFill>
          <a:ln w="9525">
            <a:solidFill>
              <a:srgbClr val="D7DED2"/>
            </a:solidFill>
          </a:ln>
        </p:spPr>
      </p:sp>
      <p:sp>
        <p:nvSpPr>
          <p:cNvPr id="14" name="SEE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05550" y="3506470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B47654"/>
                </a:solidFill>
                <a:latin typeface="Britannic Bold" panose="020B0903060703020204" charset="0"/>
                <a:ea typeface="微软雅黑" panose="020B0503020204020204" charset="-122"/>
                <a:cs typeface="Britannic Bold" panose="020B0903060703020204" charset="0"/>
              </a:rPr>
              <a:t>SEE</a:t>
            </a:r>
            <a:endParaRPr sz="2000" b="1">
              <a:solidFill>
                <a:srgbClr val="B47654"/>
              </a:solidFill>
              <a:latin typeface="Britannic Bold" panose="020B0903060703020204" charset="0"/>
              <a:ea typeface="微软雅黑" panose="020B0503020204020204" charset="-122"/>
              <a:cs typeface="Britannic Bold" panose="020B0903060703020204" charset="0"/>
            </a:endParaRPr>
          </a:p>
        </p:txBody>
      </p:sp>
      <p:sp>
        <p:nvSpPr>
          <p:cNvPr id="15" name="看见身边自然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310755" y="3401695"/>
            <a:ext cx="3905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看见身边自然</a:t>
            </a:r>
            <a:endParaRPr sz="172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停下来认真看一只虫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310755" y="3696970"/>
            <a:ext cx="3905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73807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3807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停下来认真看一只虫</a:t>
            </a:r>
            <a:endParaRPr sz="1275" b="0">
              <a:solidFill>
                <a:srgbClr val="73807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96000" y="4201795"/>
            <a:ext cx="5429250" cy="762000"/>
          </a:xfrm>
          <a:prstGeom prst="roundRect">
            <a:avLst>
              <a:gd name="adj" fmla="val 22500"/>
            </a:avLst>
          </a:prstGeom>
          <a:solidFill>
            <a:srgbClr val="F9FAF5"/>
          </a:solidFill>
          <a:ln w="9525">
            <a:solidFill>
              <a:srgbClr val="D7DED2"/>
            </a:solidFill>
          </a:ln>
        </p:spPr>
      </p:sp>
      <p:sp>
        <p:nvSpPr>
          <p:cNvPr id="18" name="ASK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305550" y="4420870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B47654"/>
                </a:solidFill>
                <a:latin typeface="Britannic Bold" panose="020B0903060703020204" charset="0"/>
                <a:ea typeface="微软雅黑" panose="020B0503020204020204" charset="-122"/>
                <a:cs typeface="Britannic Bold" panose="020B0903060703020204" charset="0"/>
              </a:rPr>
              <a:t>ASK</a:t>
            </a:r>
            <a:endParaRPr sz="2000" b="1">
              <a:solidFill>
                <a:srgbClr val="B47654"/>
              </a:solidFill>
              <a:latin typeface="Britannic Bold" panose="020B0903060703020204" charset="0"/>
              <a:ea typeface="微软雅黑" panose="020B0503020204020204" charset="-122"/>
              <a:cs typeface="Britannic Bold" panose="020B0903060703020204" charset="0"/>
            </a:endParaRPr>
          </a:p>
        </p:txBody>
      </p:sp>
      <p:sp>
        <p:nvSpPr>
          <p:cNvPr id="19" name="提出可验证问题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310755" y="4316095"/>
            <a:ext cx="3905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提出可验证问题</a:t>
            </a:r>
            <a:endParaRPr sz="172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从“这是什么”追问“为什么在这里”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310755" y="4611370"/>
            <a:ext cx="3905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73807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3807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从“这是什么”追问“为什么在这里”</a:t>
            </a:r>
            <a:endParaRPr sz="1275" b="0">
              <a:solidFill>
                <a:srgbClr val="73807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圆角矩形 20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000" y="5116195"/>
            <a:ext cx="5429250" cy="762000"/>
          </a:xfrm>
          <a:prstGeom prst="roundRect">
            <a:avLst>
              <a:gd name="adj" fmla="val 22500"/>
            </a:avLst>
          </a:prstGeom>
          <a:solidFill>
            <a:srgbClr val="F9FAF5"/>
          </a:solidFill>
          <a:ln w="9525">
            <a:solidFill>
              <a:srgbClr val="D7DED2"/>
            </a:solidFill>
          </a:ln>
        </p:spPr>
      </p:sp>
      <p:sp>
        <p:nvSpPr>
          <p:cNvPr id="22" name="SHARE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305550" y="5335270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B47654"/>
                </a:solidFill>
                <a:latin typeface="Britannic Bold" panose="020B0903060703020204" charset="0"/>
                <a:ea typeface="微软雅黑" panose="020B0503020204020204" charset="-122"/>
                <a:cs typeface="Britannic Bold" panose="020B0903060703020204" charset="0"/>
              </a:rPr>
              <a:t>SHARE</a:t>
            </a:r>
            <a:endParaRPr sz="2000" b="1">
              <a:solidFill>
                <a:srgbClr val="B47654"/>
              </a:solidFill>
              <a:latin typeface="Britannic Bold" panose="020B0903060703020204" charset="0"/>
              <a:ea typeface="微软雅黑" panose="020B0503020204020204" charset="-122"/>
              <a:cs typeface="Britannic Bold" panose="020B0903060703020204" charset="0"/>
            </a:endParaRPr>
          </a:p>
        </p:txBody>
      </p:sp>
      <p:sp>
        <p:nvSpPr>
          <p:cNvPr id="23" name="交流各地发现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310755" y="5230495"/>
            <a:ext cx="3905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交流各地发现</a:t>
            </a:r>
            <a:endParaRPr sz="172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城乡孩子交换彼此的自然现场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310755" y="5525770"/>
            <a:ext cx="3905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73807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3807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城乡孩子交换彼此的自然现场</a:t>
            </a:r>
            <a:endParaRPr sz="1275" b="0">
              <a:solidFill>
                <a:srgbClr val="73807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虫宿博物志  BugAtlas-Chin"/>
          <p:cNvSpPr>
            <a:spLocks noGrp="1"/>
          </p:cNvSpPr>
          <p:nvPr/>
        </p:nvSpPr>
        <p:spPr>
          <a:xfrm>
            <a:off x="647700" y="200025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虫宿博物志  BugAtlas-China</a:t>
            </a:r>
            <a:endParaRPr sz="9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03"/>
          <p:cNvSpPr>
            <a:spLocks noGrp="1"/>
          </p:cNvSpPr>
          <p:nvPr/>
        </p:nvSpPr>
        <p:spPr>
          <a:xfrm>
            <a:off x="10572750" y="5476875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6000" b="1">
              <a:solidFill>
                <a:srgbClr val="E8ECE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03 / 13"/>
          <p:cNvSpPr>
            <a:spLocks noGrp="1"/>
          </p:cNvSpPr>
          <p:nvPr/>
        </p:nvSpPr>
        <p:spPr>
          <a:xfrm>
            <a:off x="10858500" y="6505575"/>
            <a:ext cx="9144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2 / 课程载体"/>
          <p:cNvSpPr>
            <a:spLocks noGrp="1"/>
          </p:cNvSpPr>
          <p:nvPr/>
        </p:nvSpPr>
        <p:spPr>
          <a:xfrm>
            <a:off x="647700" y="60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课程载体</a:t>
            </a:r>
            <a:endParaRPr sz="112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一座小小的旅馆，&#10;装得下大大的自然。"/>
          <p:cNvSpPr>
            <a:spLocks noGrp="1"/>
          </p:cNvSpPr>
          <p:nvPr/>
        </p:nvSpPr>
        <p:spPr>
          <a:xfrm>
            <a:off x="647700" y="981075"/>
            <a:ext cx="781050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一座小小的旅馆，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装得下</a:t>
            </a:r>
            <a:r>
              <a:rPr sz="4000" b="1">
                <a:solidFill>
                  <a:srgbClr val="B47654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大大的自然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6" name="昆虫旅馆是“好奇自然”的教具"/>
          <p:cNvSpPr>
            <a:spLocks noGrp="1"/>
          </p:cNvSpPr>
          <p:nvPr/>
        </p:nvSpPr>
        <p:spPr>
          <a:xfrm>
            <a:off x="8858250" y="8953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昆虫旅馆是“好奇自然”的教具</a:t>
            </a:r>
            <a:endParaRPr sz="12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 t="585" b="585"/>
          <a:stretch>
            <a:fillRect/>
          </a:stretch>
        </p:blipFill>
        <p:spPr>
          <a:xfrm>
            <a:off x="647700" y="2514600"/>
            <a:ext cx="4343400" cy="3219450"/>
          </a:xfrm>
          <a:prstGeom prst="rect">
            <a:avLst/>
          </a:prstGeom>
        </p:spPr>
      </p:pic>
      <p:sp>
        <p:nvSpPr>
          <p:cNvPr id="8" name="材料示意：竹筒 / 木块 / 松果 / "/>
          <p:cNvSpPr>
            <a:spLocks noGrp="1"/>
          </p:cNvSpPr>
          <p:nvPr/>
        </p:nvSpPr>
        <p:spPr>
          <a:xfrm>
            <a:off x="666750" y="5819775"/>
            <a:ext cx="433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73807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0">
                <a:solidFill>
                  <a:srgbClr val="73807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材料示意：竹筒 / 木块 / 松果 / 树皮</a:t>
            </a:r>
            <a:endParaRPr sz="1200" b="0">
              <a:solidFill>
                <a:srgbClr val="73807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5304155" y="3238500"/>
            <a:ext cx="6210300" cy="0"/>
          </a:xfrm>
          <a:prstGeom prst="line">
            <a:avLst/>
          </a:prstGeom>
          <a:noFill/>
          <a:ln w="9525">
            <a:solidFill>
              <a:srgbClr val="D5DDD1"/>
            </a:solidFill>
          </a:ln>
        </p:spPr>
      </p:sp>
      <p:sp>
        <p:nvSpPr>
          <p:cNvPr id="10" name="01"/>
          <p:cNvSpPr>
            <a:spLocks noGrp="1"/>
          </p:cNvSpPr>
          <p:nvPr/>
        </p:nvSpPr>
        <p:spPr>
          <a:xfrm>
            <a:off x="5276850" y="2495550"/>
            <a:ext cx="4953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1800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方便"/>
          <p:cNvSpPr>
            <a:spLocks noGrp="1"/>
          </p:cNvSpPr>
          <p:nvPr/>
        </p:nvSpPr>
        <p:spPr>
          <a:xfrm>
            <a:off x="5895975" y="2352675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方便</a:t>
            </a:r>
            <a:endParaRPr sz="18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竹筒、木块、松果皆可成屋。材料随手可得，"/>
          <p:cNvSpPr>
            <a:spLocks noGrp="1"/>
          </p:cNvSpPr>
          <p:nvPr/>
        </p:nvSpPr>
        <p:spPr>
          <a:xfrm>
            <a:off x="5895975" y="2686050"/>
            <a:ext cx="54864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竹筒、木块、松果皆可成屋。材料随手可得，搭建门槛低，每个孩子都能动手。</a:t>
            </a:r>
            <a:endParaRPr sz="139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5276850" y="4133850"/>
            <a:ext cx="6210300" cy="0"/>
          </a:xfrm>
          <a:prstGeom prst="line">
            <a:avLst/>
          </a:prstGeom>
          <a:noFill/>
          <a:ln w="9525">
            <a:solidFill>
              <a:srgbClr val="D5DDD1"/>
            </a:solidFill>
          </a:ln>
        </p:spPr>
      </p:sp>
      <p:sp>
        <p:nvSpPr>
          <p:cNvPr id="14" name="02"/>
          <p:cNvSpPr>
            <a:spLocks noGrp="1"/>
          </p:cNvSpPr>
          <p:nvPr/>
        </p:nvSpPr>
        <p:spPr>
          <a:xfrm>
            <a:off x="5276850" y="3362325"/>
            <a:ext cx="4953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ClrTx/>
              <a:buSzTx/>
              <a:buFontTx/>
              <a:buNone/>
              <a:defRPr sz="165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1800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住户多样"/>
          <p:cNvSpPr>
            <a:spLocks noGrp="1"/>
          </p:cNvSpPr>
          <p:nvPr/>
        </p:nvSpPr>
        <p:spPr>
          <a:xfrm>
            <a:off x="5895975" y="328549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住户多样</a:t>
            </a:r>
            <a:endParaRPr sz="18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独居蜂、瓢虫、草蛉、步甲……一座旅馆可以"/>
          <p:cNvSpPr>
            <a:spLocks noGrp="1"/>
          </p:cNvSpPr>
          <p:nvPr/>
        </p:nvSpPr>
        <p:spPr>
          <a:xfrm>
            <a:off x="5895975" y="3618865"/>
            <a:ext cx="54864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独居蜂、瓢虫、草蛉、步甲……一座旅馆可以迎来很多类型的昆虫，观察素材源源不断。</a:t>
            </a:r>
            <a:endParaRPr sz="139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5276850" y="5037455"/>
            <a:ext cx="6210300" cy="0"/>
          </a:xfrm>
          <a:prstGeom prst="line">
            <a:avLst/>
          </a:prstGeom>
          <a:noFill/>
          <a:ln w="9525">
            <a:solidFill>
              <a:srgbClr val="D5DDD1"/>
            </a:solidFill>
          </a:ln>
        </p:spPr>
      </p:sp>
      <p:sp>
        <p:nvSpPr>
          <p:cNvPr id="18" name="03"/>
          <p:cNvSpPr>
            <a:spLocks noGrp="1"/>
          </p:cNvSpPr>
          <p:nvPr/>
        </p:nvSpPr>
        <p:spPr>
          <a:xfrm>
            <a:off x="5276850" y="4229100"/>
            <a:ext cx="4953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ClrTx/>
              <a:buSzTx/>
              <a:buFontTx/>
              <a:buNone/>
              <a:defRPr sz="165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1800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场景丰富"/>
          <p:cNvSpPr>
            <a:spLocks noGrp="1"/>
          </p:cNvSpPr>
          <p:nvPr/>
        </p:nvSpPr>
        <p:spPr>
          <a:xfrm>
            <a:off x="5895975" y="417195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场景丰富</a:t>
            </a:r>
            <a:endParaRPr sz="18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山地美育村、湿地、农田、校园，旅馆可布放"/>
          <p:cNvSpPr>
            <a:spLocks noGrp="1"/>
          </p:cNvSpPr>
          <p:nvPr/>
        </p:nvSpPr>
        <p:spPr>
          <a:xfrm>
            <a:off x="5895975" y="4505325"/>
            <a:ext cx="54864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山地美育村、湿地、农田、校园，旅馆可布放在多种场景，哪里都是课堂。</a:t>
            </a:r>
            <a:endParaRPr sz="139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5276850" y="5953125"/>
            <a:ext cx="6210300" cy="0"/>
          </a:xfrm>
          <a:prstGeom prst="line">
            <a:avLst/>
          </a:prstGeom>
          <a:noFill/>
          <a:ln w="9525">
            <a:solidFill>
              <a:srgbClr val="D5DDD1"/>
            </a:solidFill>
          </a:ln>
        </p:spPr>
      </p:sp>
      <p:sp>
        <p:nvSpPr>
          <p:cNvPr id="22" name="04"/>
          <p:cNvSpPr>
            <a:spLocks noGrp="1"/>
          </p:cNvSpPr>
          <p:nvPr/>
        </p:nvSpPr>
        <p:spPr>
          <a:xfrm>
            <a:off x="5276850" y="5095875"/>
            <a:ext cx="4953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ClrTx/>
              <a:buSzTx/>
              <a:buFontTx/>
              <a:buNone/>
              <a:defRPr sz="165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1800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便于比较"/>
          <p:cNvSpPr>
            <a:spLocks noGrp="1"/>
          </p:cNvSpPr>
          <p:nvPr/>
        </p:nvSpPr>
        <p:spPr>
          <a:xfrm>
            <a:off x="5895975" y="508635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便于比较</a:t>
            </a:r>
            <a:endParaRPr sz="18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同样的旅馆放在不同地方，谁能入住、何时入"/>
          <p:cNvSpPr>
            <a:spLocks noGrp="1"/>
          </p:cNvSpPr>
          <p:nvPr/>
        </p:nvSpPr>
        <p:spPr>
          <a:xfrm>
            <a:off x="5895975" y="5419725"/>
            <a:ext cx="54864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同样的旅馆放在不同地方，谁能入住、何时入住？天然适合做差异化比较研究。</a:t>
            </a:r>
            <a:endParaRPr sz="139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虫宿博物志  BugAtlas-Chin"/>
          <p:cNvSpPr>
            <a:spLocks noGrp="1"/>
          </p:cNvSpPr>
          <p:nvPr/>
        </p:nvSpPr>
        <p:spPr>
          <a:xfrm>
            <a:off x="647700" y="200025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虫宿博物志  BugAtlas-China</a:t>
            </a:r>
            <a:endParaRPr sz="9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04"/>
          <p:cNvSpPr>
            <a:spLocks noGrp="1"/>
          </p:cNvSpPr>
          <p:nvPr/>
        </p:nvSpPr>
        <p:spPr>
          <a:xfrm>
            <a:off x="10572750" y="5476875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6000" b="1">
              <a:solidFill>
                <a:srgbClr val="E8ECE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04 / 13"/>
          <p:cNvSpPr>
            <a:spLocks noGrp="1"/>
          </p:cNvSpPr>
          <p:nvPr/>
        </p:nvSpPr>
        <p:spPr>
          <a:xfrm>
            <a:off x="10858500" y="6505575"/>
            <a:ext cx="9144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3 / 真实硬件"/>
          <p:cNvSpPr>
            <a:spLocks noGrp="1"/>
          </p:cNvSpPr>
          <p:nvPr/>
        </p:nvSpPr>
        <p:spPr>
          <a:xfrm>
            <a:off x="647700" y="60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真实硬件</a:t>
            </a:r>
            <a:endParaRPr sz="112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让环境，成为观察的证据。"/>
          <p:cNvSpPr>
            <a:spLocks noGrp="1"/>
          </p:cNvSpPr>
          <p:nvPr/>
        </p:nvSpPr>
        <p:spPr>
          <a:xfrm>
            <a:off x="647700" y="981075"/>
            <a:ext cx="9144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7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750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让</a:t>
            </a:r>
            <a:r>
              <a:rPr sz="4000" b="1">
                <a:solidFill>
                  <a:srgbClr val="B47654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环境</a:t>
            </a:r>
            <a:r>
              <a:rPr sz="3750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，成为观察的证据</a:t>
            </a:r>
            <a:endParaRPr sz="3750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6" name="Arduino UNO R3 · DHT"/>
          <p:cNvSpPr>
            <a:spLocks noGrp="1"/>
          </p:cNvSpPr>
          <p:nvPr/>
        </p:nvSpPr>
        <p:spPr>
          <a:xfrm>
            <a:off x="8858250" y="8953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Arduino UNO R3 · DHT11 · 光敏电阻</a:t>
            </a:r>
            <a:endParaRPr sz="12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t="9886" b="9886"/>
          <a:stretch>
            <a:fillRect/>
          </a:stretch>
        </p:blipFill>
        <p:spPr>
          <a:xfrm>
            <a:off x="647700" y="2095500"/>
            <a:ext cx="5572125" cy="3352800"/>
          </a:xfrm>
          <a:prstGeom prst="rect">
            <a:avLst/>
          </a:prstGeom>
        </p:spPr>
      </p:pic>
      <p:sp>
        <p:nvSpPr>
          <p:cNvPr id="8" name="结构示意 · 非实物照片"/>
          <p:cNvSpPr>
            <a:spLocks noGrp="1"/>
          </p:cNvSpPr>
          <p:nvPr/>
        </p:nvSpPr>
        <p:spPr>
          <a:xfrm>
            <a:off x="657225" y="5534025"/>
            <a:ext cx="3238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7380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125" b="0">
              <a:solidFill>
                <a:srgbClr val="7380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ICROCLIMATE / 微气候感知"/>
          <p:cNvSpPr>
            <a:spLocks noGrp="1"/>
          </p:cNvSpPr>
          <p:nvPr/>
        </p:nvSpPr>
        <p:spPr>
          <a:xfrm>
            <a:off x="6600825" y="2143125"/>
            <a:ext cx="45148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MICROCLIMATE / 微气候感知</a:t>
            </a:r>
            <a:endParaRPr sz="10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610350" y="3086100"/>
            <a:ext cx="4905375" cy="0"/>
          </a:xfrm>
          <a:prstGeom prst="line">
            <a:avLst/>
          </a:prstGeom>
          <a:noFill/>
          <a:ln w="9525">
            <a:solidFill>
              <a:srgbClr val="D3DCCF"/>
            </a:solidFill>
          </a:ln>
        </p:spPr>
      </p:sp>
      <p:sp>
        <p:nvSpPr>
          <p:cNvPr id="11" name="温度"/>
          <p:cNvSpPr>
            <a:spLocks noGrp="1"/>
          </p:cNvSpPr>
          <p:nvPr/>
        </p:nvSpPr>
        <p:spPr>
          <a:xfrm>
            <a:off x="6638925" y="2628900"/>
            <a:ext cx="1914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温度</a:t>
            </a:r>
            <a:endParaRPr sz="172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24.6℃"/>
          <p:cNvSpPr>
            <a:spLocks noGrp="1"/>
          </p:cNvSpPr>
          <p:nvPr/>
        </p:nvSpPr>
        <p:spPr>
          <a:xfrm>
            <a:off x="9439275" y="2552700"/>
            <a:ext cx="20288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2625" b="1">
                <a:solidFill>
                  <a:srgbClr val="B7864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625" b="1">
                <a:solidFill>
                  <a:srgbClr val="B7864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24.6℃</a:t>
            </a:r>
            <a:endParaRPr sz="2625" b="1">
              <a:solidFill>
                <a:srgbClr val="B7864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610350" y="3800475"/>
            <a:ext cx="4905375" cy="0"/>
          </a:xfrm>
          <a:prstGeom prst="line">
            <a:avLst/>
          </a:prstGeom>
          <a:noFill/>
          <a:ln w="9525">
            <a:solidFill>
              <a:srgbClr val="D3DCCF"/>
            </a:solidFill>
          </a:ln>
        </p:spPr>
      </p:sp>
      <p:sp>
        <p:nvSpPr>
          <p:cNvPr id="14" name="湿度"/>
          <p:cNvSpPr>
            <a:spLocks noGrp="1"/>
          </p:cNvSpPr>
          <p:nvPr/>
        </p:nvSpPr>
        <p:spPr>
          <a:xfrm>
            <a:off x="6638925" y="3343275"/>
            <a:ext cx="1914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湿度</a:t>
            </a:r>
            <a:endParaRPr sz="172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68%"/>
          <p:cNvSpPr>
            <a:spLocks noGrp="1"/>
          </p:cNvSpPr>
          <p:nvPr/>
        </p:nvSpPr>
        <p:spPr>
          <a:xfrm>
            <a:off x="9439275" y="3267075"/>
            <a:ext cx="20288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2625" b="1">
                <a:solidFill>
                  <a:srgbClr val="66879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625" b="1">
                <a:solidFill>
                  <a:srgbClr val="66879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68%</a:t>
            </a:r>
            <a:endParaRPr sz="2625" b="1">
              <a:solidFill>
                <a:srgbClr val="66879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610350" y="4514850"/>
            <a:ext cx="4905375" cy="0"/>
          </a:xfrm>
          <a:prstGeom prst="line">
            <a:avLst/>
          </a:prstGeom>
          <a:noFill/>
          <a:ln w="9525">
            <a:solidFill>
              <a:srgbClr val="D3DCCF"/>
            </a:solidFill>
          </a:ln>
        </p:spPr>
      </p:sp>
      <p:sp>
        <p:nvSpPr>
          <p:cNvPr id="17" name="相对光照"/>
          <p:cNvSpPr>
            <a:spLocks noGrp="1"/>
          </p:cNvSpPr>
          <p:nvPr/>
        </p:nvSpPr>
        <p:spPr>
          <a:xfrm>
            <a:off x="6638925" y="4057650"/>
            <a:ext cx="1914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相对光照</a:t>
            </a:r>
            <a:endParaRPr sz="172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720"/>
          <p:cNvSpPr>
            <a:spLocks noGrp="1"/>
          </p:cNvSpPr>
          <p:nvPr/>
        </p:nvSpPr>
        <p:spPr>
          <a:xfrm>
            <a:off x="9439275" y="3981450"/>
            <a:ext cx="20288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262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62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720</a:t>
            </a:r>
            <a:endParaRPr sz="262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示例读数"/>
          <p:cNvSpPr>
            <a:spLocks noGrp="1"/>
          </p:cNvSpPr>
          <p:nvPr/>
        </p:nvSpPr>
        <p:spPr>
          <a:xfrm>
            <a:off x="10172700" y="4705350"/>
            <a:ext cx="1314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7380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0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示例读数</a:t>
            </a:r>
            <a:endParaRPr sz="1200" b="0">
              <a:solidFill>
                <a:srgbClr val="7380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rduino 经 USB 连接电脑，持"/>
          <p:cNvSpPr>
            <a:spLocks noGrp="1"/>
          </p:cNvSpPr>
          <p:nvPr/>
        </p:nvSpPr>
        <p:spPr>
          <a:xfrm>
            <a:off x="647700" y="5810250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Arduino 经 USB 连接电脑，持续记录旅馆旁的真实环境。手机负责看见，传感器负责测量。</a:t>
            </a:r>
            <a:endParaRPr sz="150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拍照时自动冻结最近的环境快照：记录“看到"/>
          <p:cNvSpPr>
            <a:spLocks noGrp="1"/>
          </p:cNvSpPr>
          <p:nvPr/>
        </p:nvSpPr>
        <p:spPr>
          <a:xfrm>
            <a:off x="647700" y="615315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1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拍照时自动冻结最近的环境快照：记录“看到什么”，也记录“在怎样的环境里看到”。</a:t>
            </a:r>
            <a:endParaRPr sz="1425" b="1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虫宿博物志  BugAtlas-Chin"/>
          <p:cNvSpPr>
            <a:spLocks noGrp="1"/>
          </p:cNvSpPr>
          <p:nvPr/>
        </p:nvSpPr>
        <p:spPr>
          <a:xfrm>
            <a:off x="647700" y="200025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虫宿博物志  BugAtlas-China</a:t>
            </a:r>
            <a:endParaRPr sz="9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05"/>
          <p:cNvSpPr>
            <a:spLocks noGrp="1"/>
          </p:cNvSpPr>
          <p:nvPr/>
        </p:nvSpPr>
        <p:spPr>
          <a:xfrm>
            <a:off x="10572750" y="5476875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</a:t>
            </a:r>
            <a:endParaRPr sz="6000" b="1">
              <a:solidFill>
                <a:srgbClr val="E8ECE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05 / 13"/>
          <p:cNvSpPr>
            <a:spLocks noGrp="1"/>
          </p:cNvSpPr>
          <p:nvPr/>
        </p:nvSpPr>
        <p:spPr>
          <a:xfrm>
            <a:off x="10858500" y="6505575"/>
            <a:ext cx="9144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4 / AI 博物导师"/>
          <p:cNvSpPr>
            <a:spLocks noGrp="1"/>
          </p:cNvSpPr>
          <p:nvPr/>
        </p:nvSpPr>
        <p:spPr>
          <a:xfrm>
            <a:off x="647700" y="60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AI 博物导师</a:t>
            </a:r>
            <a:endParaRPr sz="112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I 不替孩子思考，&#10;而是教孩子继续观察"/>
          <p:cNvSpPr>
            <a:spLocks noGrp="1"/>
          </p:cNvSpPr>
          <p:nvPr/>
        </p:nvSpPr>
        <p:spPr>
          <a:xfrm>
            <a:off x="647700" y="981075"/>
            <a:ext cx="781050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 不替孩子思考，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而是教孩子</a:t>
            </a:r>
            <a:r>
              <a:rPr sz="4000" b="1">
                <a:solidFill>
                  <a:srgbClr val="B4765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继续观察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候选 · 依据 · 不确定性 · 下一步"/>
          <p:cNvSpPr>
            <a:spLocks noGrp="1"/>
          </p:cNvSpPr>
          <p:nvPr/>
        </p:nvSpPr>
        <p:spPr>
          <a:xfrm>
            <a:off x="8858250" y="8953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候选 · 依据 · 不确定性 · 下一步</a:t>
            </a:r>
            <a:endParaRPr sz="12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最多三个候选    /    支持与反证"/>
          <p:cNvSpPr>
            <a:spLocks noGrp="1"/>
          </p:cNvSpPr>
          <p:nvPr/>
        </p:nvSpPr>
        <p:spPr>
          <a:xfrm>
            <a:off x="647700" y="2362200"/>
            <a:ext cx="10477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A66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A66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最多三个候选    /    支持与</a:t>
            </a:r>
            <a:r>
              <a:rPr sz="1425" b="1">
                <a:solidFill>
                  <a:srgbClr val="B476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</a:t>
            </a:r>
            <a:r>
              <a:rPr sz="1425" b="1">
                <a:solidFill>
                  <a:srgbClr val="A66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    /    缺失细节    /    下一步观察</a:t>
            </a:r>
            <a:endParaRPr sz="1425" b="1">
              <a:solidFill>
                <a:srgbClr val="A665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 t="11898" b="11898"/>
          <a:stretch>
            <a:fillRect/>
          </a:stretch>
        </p:blipFill>
        <p:spPr>
          <a:xfrm>
            <a:off x="767080" y="3285490"/>
            <a:ext cx="3339465" cy="2545080"/>
          </a:xfrm>
          <a:prstGeom prst="rect">
            <a:avLst/>
          </a:prstGeom>
        </p:spPr>
      </p:pic>
      <p:sp>
        <p:nvSpPr>
          <p:cNvPr id="10" name="直接连接符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808220" y="3693160"/>
            <a:ext cx="5764530" cy="8890"/>
          </a:xfrm>
          <a:prstGeom prst="line">
            <a:avLst/>
          </a:prstGeom>
          <a:noFill/>
          <a:ln w="9525">
            <a:solidFill>
              <a:srgbClr val="D3DCCF"/>
            </a:solidFill>
          </a:ln>
        </p:spPr>
      </p:sp>
      <p:sp>
        <p:nvSpPr>
          <p:cNvPr id="11" name="0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815205" y="3169285"/>
            <a:ext cx="452120" cy="1035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172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中华蚱蜢 · 候选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231986" y="3135630"/>
            <a:ext cx="4471508" cy="2151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中华蚱蜢 · 候选</a:t>
            </a:r>
            <a:endParaRPr sz="18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绿色体表与粗壮后足相符；仍需观察触角与翅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231765" y="3390900"/>
            <a:ext cx="6225540" cy="14776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绿色体表与粗壮后足相符；仍需观察触角与翅形。</a:t>
            </a:r>
            <a:endParaRPr sz="1425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>
            <p:custDataLst>
              <p:tags r:id="rId6"/>
            </p:custDataLst>
          </p:nvPr>
        </p:nvSpPr>
        <p:spPr>
          <a:xfrm flipV="1">
            <a:off x="4808220" y="4338320"/>
            <a:ext cx="5775960" cy="635"/>
          </a:xfrm>
          <a:prstGeom prst="line">
            <a:avLst/>
          </a:prstGeom>
          <a:noFill/>
          <a:ln w="9525">
            <a:solidFill>
              <a:srgbClr val="D3DCCF"/>
            </a:solidFill>
          </a:ln>
        </p:spPr>
      </p:sp>
      <p:sp>
        <p:nvSpPr>
          <p:cNvPr id="15" name="0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815205" y="3808095"/>
            <a:ext cx="452120" cy="1035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172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螽斯类 · 候选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231765" y="3774440"/>
            <a:ext cx="6142355" cy="1006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螽斯类 · 候选</a:t>
            </a:r>
            <a:endParaRPr sz="18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叶片背面活动特征相似；照片未清楚显示长触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231765" y="4029710"/>
            <a:ext cx="6225540" cy="14776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叶片背面活动特征相似；照片未清楚显示长触角。</a:t>
            </a:r>
            <a:endParaRPr sz="1425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808220" y="4977765"/>
            <a:ext cx="5763260" cy="635"/>
          </a:xfrm>
          <a:prstGeom prst="line">
            <a:avLst/>
          </a:prstGeom>
          <a:noFill/>
          <a:ln w="9525">
            <a:solidFill>
              <a:srgbClr val="D3DCCF"/>
            </a:solidFill>
          </a:ln>
        </p:spPr>
      </p:sp>
      <p:sp>
        <p:nvSpPr>
          <p:cNvPr id="19" name="0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815205" y="4446905"/>
            <a:ext cx="452120" cy="1035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172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叶蝉类 · 候选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231765" y="4413250"/>
            <a:ext cx="6142355" cy="1006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叶蝉类 · 候选</a:t>
            </a:r>
            <a:endParaRPr sz="18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体色接近环境，但体型与足部特征仍有差异。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231765" y="4668520"/>
            <a:ext cx="6225540" cy="14776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体色接近环境，但体型与足部特征仍有差异。</a:t>
            </a:r>
            <a:endParaRPr sz="1425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同一结果提供儿童版与教师版讲解；儿童版可"/>
          <p:cNvSpPr>
            <a:spLocks noGrp="1"/>
          </p:cNvSpPr>
          <p:nvPr/>
        </p:nvSpPr>
        <p:spPr>
          <a:xfrm>
            <a:off x="4944110" y="5175250"/>
            <a:ext cx="5842635" cy="1106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0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同一结果提供儿童版与教师版讲解；</a:t>
            </a:r>
            <a:endParaRPr sz="160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0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儿童版可由本地语音朗读，无需联网。</a:t>
            </a:r>
            <a:endParaRPr sz="160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00" b="1">
                <a:solidFill>
                  <a:srgbClr val="738077"/>
                </a:solidFill>
                <a:sym typeface="+mn-ea"/>
              </a:rPr>
              <a:t>科学边界：AI 只辅助自然教育，不用于权威物种鉴定和安全判断。</a:t>
            </a:r>
            <a:endParaRPr sz="1600" b="1">
              <a:solidFill>
                <a:srgbClr val="73807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endParaRPr sz="160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科学边界：AI 只辅助自然教育，不用于权"/>
          <p:cNvSpPr>
            <a:spLocks noGrp="1"/>
          </p:cNvSpPr>
          <p:nvPr/>
        </p:nvSpPr>
        <p:spPr>
          <a:xfrm>
            <a:off x="4660265" y="5498465"/>
            <a:ext cx="7579360" cy="10648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73807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endParaRPr sz="1350" b="0">
              <a:solidFill>
                <a:srgbClr val="73807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虫宿博物志  BugAtlas-Chin"/>
          <p:cNvSpPr>
            <a:spLocks noGrp="1"/>
          </p:cNvSpPr>
          <p:nvPr/>
        </p:nvSpPr>
        <p:spPr>
          <a:xfrm>
            <a:off x="647700" y="200025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虫宿博物志  BugAtlas-China</a:t>
            </a:r>
            <a:endParaRPr sz="9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06"/>
          <p:cNvSpPr>
            <a:spLocks noGrp="1"/>
          </p:cNvSpPr>
          <p:nvPr/>
        </p:nvSpPr>
        <p:spPr>
          <a:xfrm>
            <a:off x="10572750" y="5476875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</a:t>
            </a:r>
            <a:endParaRPr sz="6000" b="1">
              <a:solidFill>
                <a:srgbClr val="E8ECE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06 / 13"/>
          <p:cNvSpPr>
            <a:spLocks noGrp="1"/>
          </p:cNvSpPr>
          <p:nvPr/>
        </p:nvSpPr>
        <p:spPr>
          <a:xfrm>
            <a:off x="10858500" y="6505575"/>
            <a:ext cx="9144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5 / 融合"/>
          <p:cNvSpPr>
            <a:spLocks noGrp="1"/>
          </p:cNvSpPr>
          <p:nvPr/>
        </p:nvSpPr>
        <p:spPr>
          <a:xfrm>
            <a:off x="647700" y="60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融合</a:t>
            </a:r>
            <a:endParaRPr sz="112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硬件、小程序与云端 AI，&#10;各做擅长的事"/>
          <p:cNvSpPr>
            <a:spLocks noGrp="1"/>
          </p:cNvSpPr>
          <p:nvPr/>
        </p:nvSpPr>
        <p:spPr>
          <a:xfrm>
            <a:off x="647700" y="981075"/>
            <a:ext cx="781050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硬件、小程序与云端 AI，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各做擅长的事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一次观察的完整旅程"/>
          <p:cNvSpPr>
            <a:spLocks noGrp="1"/>
          </p:cNvSpPr>
          <p:nvPr/>
        </p:nvSpPr>
        <p:spPr>
          <a:xfrm>
            <a:off x="8858250" y="8953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一次观察的完整旅程</a:t>
            </a:r>
            <a:endParaRPr sz="12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47700" y="3105150"/>
            <a:ext cx="10868025" cy="0"/>
          </a:xfrm>
          <a:prstGeom prst="line">
            <a:avLst/>
          </a:prstGeom>
          <a:noFill/>
          <a:ln w="9525">
            <a:solidFill>
              <a:srgbClr val="D0D9CD"/>
            </a:solidFill>
          </a:ln>
        </p:spPr>
      </p:sp>
      <p:sp>
        <p:nvSpPr>
          <p:cNvPr id="8" name="01"/>
          <p:cNvSpPr>
            <a:spLocks noGrp="1"/>
          </p:cNvSpPr>
          <p:nvPr/>
        </p:nvSpPr>
        <p:spPr>
          <a:xfrm>
            <a:off x="657225" y="2505075"/>
            <a:ext cx="6381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217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昆虫旅馆 × Arduino"/>
          <p:cNvSpPr>
            <a:spLocks noGrp="1"/>
          </p:cNvSpPr>
          <p:nvPr/>
        </p:nvSpPr>
        <p:spPr>
          <a:xfrm>
            <a:off x="1457325" y="2476500"/>
            <a:ext cx="33242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昆虫旅馆 × Arduino</a:t>
            </a:r>
            <a:endParaRPr sz="19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DHT11 温湿度与光敏电阻持续记录旅馆"/>
          <p:cNvSpPr>
            <a:spLocks noGrp="1"/>
          </p:cNvSpPr>
          <p:nvPr/>
        </p:nvSpPr>
        <p:spPr>
          <a:xfrm>
            <a:off x="4791075" y="2505075"/>
            <a:ext cx="65627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DHT11 温湿度与光敏电阻持续记录旅馆旁的微气候。</a:t>
            </a:r>
            <a:endParaRPr sz="150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47700" y="3886200"/>
            <a:ext cx="10868025" cy="0"/>
          </a:xfrm>
          <a:prstGeom prst="line">
            <a:avLst/>
          </a:prstGeom>
          <a:noFill/>
          <a:ln w="9525">
            <a:solidFill>
              <a:srgbClr val="D0D9CD"/>
            </a:solidFill>
          </a:ln>
        </p:spPr>
      </p:sp>
      <p:sp>
        <p:nvSpPr>
          <p:cNvPr id="12" name="02"/>
          <p:cNvSpPr>
            <a:spLocks noGrp="1"/>
          </p:cNvSpPr>
          <p:nvPr/>
        </p:nvSpPr>
        <p:spPr>
          <a:xfrm>
            <a:off x="657225" y="3286125"/>
            <a:ext cx="6381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217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本地服务"/>
          <p:cNvSpPr>
            <a:spLocks noGrp="1"/>
          </p:cNvSpPr>
          <p:nvPr/>
        </p:nvSpPr>
        <p:spPr>
          <a:xfrm>
            <a:off x="1457325" y="3257550"/>
            <a:ext cx="33242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本地服务</a:t>
            </a:r>
            <a:endParaRPr sz="19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USB 串口桥接、数据校验和保存；断网时"/>
          <p:cNvSpPr>
            <a:spLocks noGrp="1"/>
          </p:cNvSpPr>
          <p:nvPr/>
        </p:nvSpPr>
        <p:spPr>
          <a:xfrm>
            <a:off x="4791075" y="3286125"/>
            <a:ext cx="65627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USB 串口桥接、数据校验和保存；断网时已采集的记录仍保留。</a:t>
            </a:r>
            <a:endParaRPr sz="150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47700" y="4667250"/>
            <a:ext cx="10868025" cy="0"/>
          </a:xfrm>
          <a:prstGeom prst="line">
            <a:avLst/>
          </a:prstGeom>
          <a:noFill/>
          <a:ln w="9525">
            <a:solidFill>
              <a:srgbClr val="D0D9CD"/>
            </a:solidFill>
          </a:ln>
        </p:spPr>
      </p:sp>
      <p:sp>
        <p:nvSpPr>
          <p:cNvPr id="16" name="03"/>
          <p:cNvSpPr>
            <a:spLocks noGrp="1"/>
          </p:cNvSpPr>
          <p:nvPr/>
        </p:nvSpPr>
        <p:spPr>
          <a:xfrm>
            <a:off x="657225" y="4067175"/>
            <a:ext cx="6381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217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微信小程序"/>
          <p:cNvSpPr>
            <a:spLocks noGrp="1"/>
          </p:cNvSpPr>
          <p:nvPr/>
        </p:nvSpPr>
        <p:spPr>
          <a:xfrm>
            <a:off x="1457325" y="4038600"/>
            <a:ext cx="33242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微信小程序</a:t>
            </a:r>
            <a:endParaRPr sz="19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孩子拍照、描述、听讲解；拍照时冻结最近的"/>
          <p:cNvSpPr>
            <a:spLocks noGrp="1"/>
          </p:cNvSpPr>
          <p:nvPr/>
        </p:nvSpPr>
        <p:spPr>
          <a:xfrm>
            <a:off x="4791075" y="4067175"/>
            <a:ext cx="65627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孩子拍照、描述、听讲解；拍照时冻结最近的环境快照。</a:t>
            </a:r>
            <a:endParaRPr sz="150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47700" y="5448300"/>
            <a:ext cx="10868025" cy="0"/>
          </a:xfrm>
          <a:prstGeom prst="line">
            <a:avLst/>
          </a:prstGeom>
          <a:noFill/>
          <a:ln w="9525">
            <a:solidFill>
              <a:srgbClr val="D0D9CD"/>
            </a:solidFill>
          </a:ln>
        </p:spPr>
      </p:sp>
      <p:sp>
        <p:nvSpPr>
          <p:cNvPr id="20" name="04"/>
          <p:cNvSpPr>
            <a:spLocks noGrp="1"/>
          </p:cNvSpPr>
          <p:nvPr/>
        </p:nvSpPr>
        <p:spPr>
          <a:xfrm>
            <a:off x="657225" y="4848225"/>
            <a:ext cx="6381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217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云端 AI"/>
          <p:cNvSpPr>
            <a:spLocks noGrp="1"/>
          </p:cNvSpPr>
          <p:nvPr/>
        </p:nvSpPr>
        <p:spPr>
          <a:xfrm>
            <a:off x="1457325" y="4819650"/>
            <a:ext cx="33242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云端 AI</a:t>
            </a:r>
            <a:endParaRPr sz="19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Kimi 多模态给出候选与依据，生成儿童"/>
          <p:cNvSpPr>
            <a:spLocks noGrp="1"/>
          </p:cNvSpPr>
          <p:nvPr/>
        </p:nvSpPr>
        <p:spPr>
          <a:xfrm>
            <a:off x="4791075" y="4848225"/>
            <a:ext cx="65627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Kimi 多模态给出候选与依据，生成儿童版讲解和无文字插画。</a:t>
            </a:r>
            <a:endParaRPr sz="150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OUTPUT / 一次观察的产出"/>
          <p:cNvSpPr>
            <a:spLocks noGrp="1"/>
          </p:cNvSpPr>
          <p:nvPr/>
        </p:nvSpPr>
        <p:spPr>
          <a:xfrm>
            <a:off x="657225" y="5629275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/ 一次观察的产出</a:t>
            </a:r>
            <a:endParaRPr sz="10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自然明信片   /   博物详解图   "/>
          <p:cNvSpPr>
            <a:spLocks noGrp="1"/>
          </p:cNvSpPr>
          <p:nvPr/>
        </p:nvSpPr>
        <p:spPr>
          <a:xfrm>
            <a:off x="657225" y="5905500"/>
            <a:ext cx="1076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自然明信片   /   博物详解图   /   儿童语音讲解   /   自然中国交流广场</a:t>
            </a:r>
            <a:endParaRPr sz="15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虫宿博物志  BugAtlas-Chin"/>
          <p:cNvSpPr>
            <a:spLocks noGrp="1"/>
          </p:cNvSpPr>
          <p:nvPr/>
        </p:nvSpPr>
        <p:spPr>
          <a:xfrm>
            <a:off x="647700" y="200025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虫宿博物志  BugAtlas-China</a:t>
            </a:r>
            <a:endParaRPr sz="9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07"/>
          <p:cNvSpPr>
            <a:spLocks noGrp="1"/>
          </p:cNvSpPr>
          <p:nvPr/>
        </p:nvSpPr>
        <p:spPr>
          <a:xfrm>
            <a:off x="10572750" y="5476875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07</a:t>
            </a:r>
            <a:endParaRPr sz="6000" b="1">
              <a:solidFill>
                <a:srgbClr val="E8ECE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07 / 13"/>
          <p:cNvSpPr>
            <a:spLocks noGrp="1"/>
          </p:cNvSpPr>
          <p:nvPr/>
        </p:nvSpPr>
        <p:spPr>
          <a:xfrm>
            <a:off x="10858500" y="6505575"/>
            <a:ext cx="9144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6 / 自然来信"/>
          <p:cNvSpPr>
            <a:spLocks noGrp="1"/>
          </p:cNvSpPr>
          <p:nvPr/>
        </p:nvSpPr>
        <p:spPr>
          <a:xfrm>
            <a:off x="647700" y="60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自然来信</a:t>
            </a:r>
            <a:endParaRPr sz="112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把一次发现，&#10;变成一封自然来信。"/>
          <p:cNvSpPr>
            <a:spLocks noGrp="1"/>
          </p:cNvSpPr>
          <p:nvPr/>
        </p:nvSpPr>
        <p:spPr>
          <a:xfrm>
            <a:off x="647700" y="981075"/>
            <a:ext cx="781050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把一次发现，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变成一封</a:t>
            </a:r>
            <a:r>
              <a:rPr sz="4000" b="1">
                <a:solidFill>
                  <a:srgbClr val="B47654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自然来信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6" name="观察与表达共同完成学习"/>
          <p:cNvSpPr>
            <a:spLocks noGrp="1"/>
          </p:cNvSpPr>
          <p:nvPr/>
        </p:nvSpPr>
        <p:spPr>
          <a:xfrm>
            <a:off x="8858250" y="8953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观察与表达共同完成学习</a:t>
            </a:r>
            <a:endParaRPr sz="12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2428875"/>
            <a:ext cx="5410200" cy="3381375"/>
          </a:xfrm>
          <a:prstGeom prst="rect">
            <a:avLst/>
          </a:prstGeom>
        </p:spPr>
      </p:pic>
      <p:sp>
        <p:nvSpPr>
          <p:cNvPr id="8" name="照片、数据、科普与孩子的描述，&#10;在同一张"/>
          <p:cNvSpPr>
            <a:spLocks noGrp="1"/>
          </p:cNvSpPr>
          <p:nvPr/>
        </p:nvSpPr>
        <p:spPr>
          <a:xfrm>
            <a:off x="6744335" y="2495550"/>
            <a:ext cx="500062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照片、数据、科普与孩子的描述，</a:t>
            </a:r>
            <a:endParaRPr sz="21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  <a:buNone/>
              <a:defRPr sz="21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在同一张作品里相遇。</a:t>
            </a:r>
            <a:endParaRPr sz="21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椭圆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797675" y="3562350"/>
            <a:ext cx="304800" cy="304800"/>
          </a:xfrm>
          <a:prstGeom prst="ellipse">
            <a:avLst/>
          </a:prstGeom>
          <a:solidFill>
            <a:srgbClr val="708775"/>
          </a:solidFill>
          <a:ln w="0">
            <a:solidFill>
              <a:srgbClr val="708775"/>
            </a:solidFill>
          </a:ln>
        </p:spPr>
      </p:sp>
      <p:sp>
        <p:nvSpPr>
          <p:cNvPr id="10" name="照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35775" y="3600450"/>
            <a:ext cx="2476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AFBF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FAFBF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照</a:t>
            </a:r>
            <a:endParaRPr sz="1350" b="1">
              <a:solidFill>
                <a:srgbClr val="FAFBF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保留真实观察照片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302500" y="3562350"/>
            <a:ext cx="4248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保留真实观察照片</a:t>
            </a:r>
            <a:endParaRPr sz="165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椭圆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797675" y="4095750"/>
            <a:ext cx="304800" cy="304800"/>
          </a:xfrm>
          <a:prstGeom prst="ellipse">
            <a:avLst/>
          </a:prstGeom>
          <a:solidFill>
            <a:srgbClr val="708775"/>
          </a:solidFill>
          <a:ln w="0">
            <a:solidFill>
              <a:srgbClr val="708775"/>
            </a:solidFill>
          </a:ln>
        </p:spPr>
      </p:sp>
      <p:sp>
        <p:nvSpPr>
          <p:cNvPr id="13" name="数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835775" y="4133850"/>
            <a:ext cx="2476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AFBF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FAFBF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1350" b="1">
              <a:solidFill>
                <a:srgbClr val="FAFBF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带上当时的环境快照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302500" y="4095750"/>
            <a:ext cx="4248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带上当时的环境快照</a:t>
            </a:r>
            <a:endParaRPr sz="165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椭圆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797675" y="4629150"/>
            <a:ext cx="304800" cy="304800"/>
          </a:xfrm>
          <a:prstGeom prst="ellipse">
            <a:avLst/>
          </a:prstGeom>
          <a:solidFill>
            <a:srgbClr val="708775"/>
          </a:solidFill>
          <a:ln w="0">
            <a:solidFill>
              <a:srgbClr val="708775"/>
            </a:solidFill>
          </a:ln>
        </p:spPr>
      </p:sp>
      <p:sp>
        <p:nvSpPr>
          <p:cNvPr id="16" name="知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835775" y="4667250"/>
            <a:ext cx="2476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AFBF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FAFBF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</a:t>
            </a:r>
            <a:endParaRPr sz="1350" b="1">
              <a:solidFill>
                <a:srgbClr val="FAFBF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呈现谨慎、可核验的科普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302500" y="4629150"/>
            <a:ext cx="4248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呈现谨慎、可核验的科普</a:t>
            </a:r>
            <a:endParaRPr sz="165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椭圆 1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797675" y="5162550"/>
            <a:ext cx="304800" cy="304800"/>
          </a:xfrm>
          <a:prstGeom prst="ellipse">
            <a:avLst/>
          </a:prstGeom>
          <a:solidFill>
            <a:srgbClr val="708775"/>
          </a:solidFill>
          <a:ln w="0">
            <a:solidFill>
              <a:srgbClr val="708775"/>
            </a:solidFill>
          </a:ln>
        </p:spPr>
      </p:sp>
      <p:sp>
        <p:nvSpPr>
          <p:cNvPr id="19" name="寄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835775" y="5200650"/>
            <a:ext cx="2476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AFBF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FAFBF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寄</a:t>
            </a:r>
            <a:endParaRPr sz="1350" b="1">
              <a:solidFill>
                <a:srgbClr val="FAFBF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保存与分享，成为自然档案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302500" y="5162550"/>
            <a:ext cx="4248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保存与分享，成为自然档案</a:t>
            </a:r>
            <a:endParaRPr sz="165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虫宿博物志  BugAtlas-Chin"/>
          <p:cNvSpPr>
            <a:spLocks noGrp="1"/>
          </p:cNvSpPr>
          <p:nvPr/>
        </p:nvSpPr>
        <p:spPr>
          <a:xfrm>
            <a:off x="647700" y="200025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虫宿博物志  BugAtlas-China</a:t>
            </a:r>
            <a:endParaRPr sz="9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08"/>
          <p:cNvSpPr>
            <a:spLocks noGrp="1"/>
          </p:cNvSpPr>
          <p:nvPr/>
        </p:nvSpPr>
        <p:spPr>
          <a:xfrm>
            <a:off x="10572750" y="5476875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08</a:t>
            </a:r>
            <a:endParaRPr sz="6000" b="1">
              <a:solidFill>
                <a:srgbClr val="E8ECE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08 / 13"/>
          <p:cNvSpPr>
            <a:spLocks noGrp="1"/>
          </p:cNvSpPr>
          <p:nvPr/>
        </p:nvSpPr>
        <p:spPr>
          <a:xfrm>
            <a:off x="10858500" y="6505575"/>
            <a:ext cx="9144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7 / 城乡共学"/>
          <p:cNvSpPr>
            <a:spLocks noGrp="1"/>
          </p:cNvSpPr>
          <p:nvPr/>
        </p:nvSpPr>
        <p:spPr>
          <a:xfrm>
            <a:off x="647700" y="60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城乡共学</a:t>
            </a:r>
            <a:endParaRPr sz="112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让城乡孩子，&#10;共写自然中国。"/>
          <p:cNvSpPr>
            <a:spLocks noGrp="1"/>
          </p:cNvSpPr>
          <p:nvPr/>
        </p:nvSpPr>
        <p:spPr>
          <a:xfrm>
            <a:off x="647700" y="981075"/>
            <a:ext cx="781050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让城乡孩子，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4000" b="1">
                <a:solidFill>
                  <a:srgbClr val="B47654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共写自然中国</a:t>
            </a:r>
            <a:r>
              <a:rPr lang="en-US" sz="4000" b="1">
                <a:solidFill>
                  <a:srgbClr val="B47654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!</a:t>
            </a:r>
            <a:endParaRPr lang="en-US" sz="4000" b="1">
              <a:solidFill>
                <a:srgbClr val="B47654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6" name="同一种好奇心，不同的生态现场"/>
          <p:cNvSpPr>
            <a:spLocks noGrp="1"/>
          </p:cNvSpPr>
          <p:nvPr/>
        </p:nvSpPr>
        <p:spPr>
          <a:xfrm>
            <a:off x="8858250" y="8953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同一种好奇心，不同的生态现场</a:t>
            </a:r>
            <a:endParaRPr sz="12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rcRect t="3580" b="3580"/>
          <a:stretch>
            <a:fillRect/>
          </a:stretch>
        </p:blipFill>
        <p:spPr>
          <a:xfrm>
            <a:off x="647700" y="2524125"/>
            <a:ext cx="5924550" cy="3095625"/>
          </a:xfrm>
          <a:prstGeom prst="rect">
            <a:avLst/>
          </a:prstGeom>
        </p:spPr>
      </p:pic>
      <p:sp>
        <p:nvSpPr>
          <p:cNvPr id="8" name="“你们那里的昆虫，也喜欢这样的环境吗？”"/>
          <p:cNvSpPr>
            <a:spLocks noGrp="1"/>
          </p:cNvSpPr>
          <p:nvPr/>
        </p:nvSpPr>
        <p:spPr>
          <a:xfrm>
            <a:off x="657225" y="5781675"/>
            <a:ext cx="5905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“你们那里的昆虫，也喜欢这样的环境吗？”</a:t>
            </a:r>
            <a:endParaRPr sz="172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孩子交换自然明信片，也比较不同地方的温度"/>
          <p:cNvSpPr>
            <a:spLocks noGrp="1"/>
          </p:cNvSpPr>
          <p:nvPr/>
        </p:nvSpPr>
        <p:spPr>
          <a:xfrm>
            <a:off x="6810375" y="2514600"/>
            <a:ext cx="46863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孩子交换自然明信片，也比较不同地方的温度、湿度、生境与生命。</a:t>
            </a:r>
            <a:endParaRPr sz="16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810375" y="3952875"/>
            <a:ext cx="4695825" cy="0"/>
          </a:xfrm>
          <a:prstGeom prst="line">
            <a:avLst/>
          </a:prstGeom>
          <a:noFill/>
          <a:ln w="9525">
            <a:solidFill>
              <a:srgbClr val="D1D9CE"/>
            </a:solidFill>
          </a:ln>
        </p:spPr>
      </p:sp>
      <p:sp>
        <p:nvSpPr>
          <p:cNvPr id="11" name="01"/>
          <p:cNvSpPr>
            <a:spLocks noGrp="1"/>
          </p:cNvSpPr>
          <p:nvPr/>
        </p:nvSpPr>
        <p:spPr>
          <a:xfrm>
            <a:off x="6819900" y="3400425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157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山家美育村"/>
          <p:cNvSpPr>
            <a:spLocks noGrp="1"/>
          </p:cNvSpPr>
          <p:nvPr/>
        </p:nvSpPr>
        <p:spPr>
          <a:xfrm>
            <a:off x="7286625" y="33909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山家美育村</a:t>
            </a:r>
            <a:endParaRPr sz="15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林缘、溪流与山谷温差"/>
          <p:cNvSpPr>
            <a:spLocks noGrp="1"/>
          </p:cNvSpPr>
          <p:nvPr/>
        </p:nvSpPr>
        <p:spPr>
          <a:xfrm>
            <a:off x="7286625" y="3686175"/>
            <a:ext cx="4191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1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1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林缘、溪流与山谷温差</a:t>
            </a:r>
            <a:endParaRPr sz="1315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6810375" y="4600575"/>
            <a:ext cx="4695825" cy="0"/>
          </a:xfrm>
          <a:prstGeom prst="line">
            <a:avLst/>
          </a:prstGeom>
          <a:noFill/>
          <a:ln w="9525">
            <a:solidFill>
              <a:srgbClr val="D1D9CE"/>
            </a:solidFill>
          </a:ln>
        </p:spPr>
      </p:sp>
      <p:sp>
        <p:nvSpPr>
          <p:cNvPr id="15" name="02"/>
          <p:cNvSpPr>
            <a:spLocks noGrp="1"/>
          </p:cNvSpPr>
          <p:nvPr/>
        </p:nvSpPr>
        <p:spPr>
          <a:xfrm>
            <a:off x="6819900" y="4048125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157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西海湿地"/>
          <p:cNvSpPr>
            <a:spLocks noGrp="1"/>
          </p:cNvSpPr>
          <p:nvPr/>
        </p:nvSpPr>
        <p:spPr>
          <a:xfrm>
            <a:off x="7286625" y="40386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西海湿地</a:t>
            </a:r>
            <a:endParaRPr sz="15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水边植物与高湿环境"/>
          <p:cNvSpPr>
            <a:spLocks noGrp="1"/>
          </p:cNvSpPr>
          <p:nvPr/>
        </p:nvSpPr>
        <p:spPr>
          <a:xfrm>
            <a:off x="7286625" y="4333875"/>
            <a:ext cx="4191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1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1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水边植物与高湿环境</a:t>
            </a:r>
            <a:endParaRPr sz="1315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10375" y="5248275"/>
            <a:ext cx="4695825" cy="0"/>
          </a:xfrm>
          <a:prstGeom prst="line">
            <a:avLst/>
          </a:prstGeom>
          <a:noFill/>
          <a:ln w="9525">
            <a:solidFill>
              <a:srgbClr val="D1D9CE"/>
            </a:solidFill>
          </a:ln>
        </p:spPr>
      </p:sp>
      <p:sp>
        <p:nvSpPr>
          <p:cNvPr id="19" name="03"/>
          <p:cNvSpPr>
            <a:spLocks noGrp="1"/>
          </p:cNvSpPr>
          <p:nvPr/>
        </p:nvSpPr>
        <p:spPr>
          <a:xfrm>
            <a:off x="6819900" y="4695825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157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农机站农田"/>
          <p:cNvSpPr>
            <a:spLocks noGrp="1"/>
          </p:cNvSpPr>
          <p:nvPr/>
        </p:nvSpPr>
        <p:spPr>
          <a:xfrm>
            <a:off x="7286625" y="46863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农机站农田</a:t>
            </a:r>
            <a:endParaRPr sz="15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作物、田埂与季节变化"/>
          <p:cNvSpPr>
            <a:spLocks noGrp="1"/>
          </p:cNvSpPr>
          <p:nvPr/>
        </p:nvSpPr>
        <p:spPr>
          <a:xfrm>
            <a:off x="7286625" y="4981575"/>
            <a:ext cx="4191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1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1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作物、田埂与季节变化</a:t>
            </a:r>
            <a:endParaRPr sz="1315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10375" y="5895975"/>
            <a:ext cx="4695825" cy="0"/>
          </a:xfrm>
          <a:prstGeom prst="line">
            <a:avLst/>
          </a:prstGeom>
          <a:noFill/>
          <a:ln w="9525">
            <a:solidFill>
              <a:srgbClr val="D1D9CE"/>
            </a:solidFill>
          </a:ln>
        </p:spPr>
      </p:sp>
      <p:sp>
        <p:nvSpPr>
          <p:cNvPr id="23" name="04"/>
          <p:cNvSpPr>
            <a:spLocks noGrp="1"/>
          </p:cNvSpPr>
          <p:nvPr/>
        </p:nvSpPr>
        <p:spPr>
          <a:xfrm>
            <a:off x="6819900" y="5343525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1575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城市校园"/>
          <p:cNvSpPr>
            <a:spLocks noGrp="1"/>
          </p:cNvSpPr>
          <p:nvPr/>
        </p:nvSpPr>
        <p:spPr>
          <a:xfrm>
            <a:off x="7286625" y="53340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城市校园</a:t>
            </a:r>
            <a:endParaRPr sz="15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从身边绿地开始持续观察"/>
          <p:cNvSpPr>
            <a:spLocks noGrp="1"/>
          </p:cNvSpPr>
          <p:nvPr/>
        </p:nvSpPr>
        <p:spPr>
          <a:xfrm>
            <a:off x="7286625" y="5629275"/>
            <a:ext cx="4191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1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1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从身边绿地开始持续观察</a:t>
            </a:r>
            <a:endParaRPr sz="1315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虫宿博物志  BugAtlas-Chin"/>
          <p:cNvSpPr>
            <a:spLocks noGrp="1"/>
          </p:cNvSpPr>
          <p:nvPr/>
        </p:nvSpPr>
        <p:spPr>
          <a:xfrm>
            <a:off x="647700" y="200025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虫宿博物志  BugAtlas-China</a:t>
            </a:r>
            <a:endParaRPr sz="9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09"/>
          <p:cNvSpPr>
            <a:spLocks noGrp="1"/>
          </p:cNvSpPr>
          <p:nvPr/>
        </p:nvSpPr>
        <p:spPr>
          <a:xfrm>
            <a:off x="10572750" y="5476875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09</a:t>
            </a:r>
            <a:endParaRPr sz="6000" b="1">
              <a:solidFill>
                <a:srgbClr val="E8ECE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09 / 13"/>
          <p:cNvSpPr>
            <a:spLocks noGrp="1"/>
          </p:cNvSpPr>
          <p:nvPr/>
        </p:nvSpPr>
        <p:spPr>
          <a:xfrm>
            <a:off x="10858500" y="6505575"/>
            <a:ext cx="9144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8 / 未来期望"/>
          <p:cNvSpPr>
            <a:spLocks noGrp="1"/>
          </p:cNvSpPr>
          <p:nvPr/>
        </p:nvSpPr>
        <p:spPr>
          <a:xfrm>
            <a:off x="647700" y="60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未来期望</a:t>
            </a:r>
            <a:endParaRPr sz="112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旅馆还会长大，&#10;好奇心也是。"/>
          <p:cNvSpPr>
            <a:spLocks noGrp="1"/>
          </p:cNvSpPr>
          <p:nvPr/>
        </p:nvSpPr>
        <p:spPr>
          <a:xfrm>
            <a:off x="647700" y="981075"/>
            <a:ext cx="781050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旅馆还会长大，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4000" b="1">
                <a:solidFill>
                  <a:srgbClr val="B47654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好奇心</a:t>
            </a: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也是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6" name="下一代智能昆虫旅馆的想象"/>
          <p:cNvSpPr>
            <a:spLocks noGrp="1"/>
          </p:cNvSpPr>
          <p:nvPr/>
        </p:nvSpPr>
        <p:spPr>
          <a:xfrm>
            <a:off x="8858250" y="8953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下一代智能昆虫旅馆的想象</a:t>
            </a:r>
            <a:endParaRPr sz="12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47700" y="2593975"/>
            <a:ext cx="5219700" cy="1516380"/>
          </a:xfrm>
          <a:prstGeom prst="roundRect">
            <a:avLst>
              <a:gd name="adj" fmla="val 11921"/>
            </a:avLst>
          </a:prstGeom>
          <a:solidFill>
            <a:srgbClr val="F9FAF5"/>
          </a:solidFill>
          <a:ln w="9525">
            <a:solidFill>
              <a:srgbClr val="D7DED2"/>
            </a:solidFill>
          </a:ln>
        </p:spPr>
      </p:sp>
      <p:sp>
        <p:nvSpPr>
          <p:cNvPr id="8" name="INVITE / 更温柔的邀请"/>
          <p:cNvSpPr>
            <a:spLocks noGrp="1"/>
          </p:cNvSpPr>
          <p:nvPr/>
        </p:nvSpPr>
        <p:spPr>
          <a:xfrm>
            <a:off x="885825" y="2765425"/>
            <a:ext cx="45720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INVITE / 更温柔的邀请</a:t>
            </a:r>
            <a:endParaRPr sz="10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信息素与天然诱芯"/>
          <p:cNvSpPr>
            <a:spLocks noGrp="1"/>
          </p:cNvSpPr>
          <p:nvPr/>
        </p:nvSpPr>
        <p:spPr>
          <a:xfrm>
            <a:off x="885825" y="3070225"/>
            <a:ext cx="4667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信息素与天然诱芯</a:t>
            </a:r>
            <a:endParaRPr sz="19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未来尝试用信息素、花粉与食物诱芯等方式，"/>
          <p:cNvSpPr>
            <a:spLocks noGrp="1"/>
          </p:cNvSpPr>
          <p:nvPr/>
        </p:nvSpPr>
        <p:spPr>
          <a:xfrm>
            <a:off x="885825" y="3470275"/>
            <a:ext cx="4667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未来尝试用信息素、花粉与食物诱芯等方式，礼貌地邀请更多昆虫来做客，而不是捕捉它们。</a:t>
            </a:r>
            <a:endParaRPr sz="139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134100" y="2593975"/>
            <a:ext cx="5219700" cy="1511935"/>
          </a:xfrm>
          <a:prstGeom prst="roundRect">
            <a:avLst>
              <a:gd name="adj" fmla="val 11921"/>
            </a:avLst>
          </a:prstGeom>
          <a:solidFill>
            <a:srgbClr val="F9FAF5"/>
          </a:solidFill>
          <a:ln w="9525">
            <a:solidFill>
              <a:srgbClr val="D7DED2"/>
            </a:solidFill>
          </a:ln>
        </p:spPr>
      </p:sp>
      <p:sp>
        <p:nvSpPr>
          <p:cNvPr id="12" name="FREE / 自由进出"/>
          <p:cNvSpPr>
            <a:spLocks noGrp="1"/>
          </p:cNvSpPr>
          <p:nvPr/>
        </p:nvSpPr>
        <p:spPr>
          <a:xfrm>
            <a:off x="6372225" y="2765425"/>
            <a:ext cx="45720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FREE / 自由进出</a:t>
            </a:r>
            <a:endParaRPr sz="10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来去自由的旅馆"/>
          <p:cNvSpPr>
            <a:spLocks noGrp="1"/>
          </p:cNvSpPr>
          <p:nvPr/>
        </p:nvSpPr>
        <p:spPr>
          <a:xfrm>
            <a:off x="6372225" y="3070225"/>
            <a:ext cx="4667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来去自由的旅馆</a:t>
            </a:r>
            <a:endParaRPr sz="19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旅馆永远敞开，不困住任何一只虫子。自由来"/>
          <p:cNvSpPr>
            <a:spLocks noGrp="1"/>
          </p:cNvSpPr>
          <p:nvPr/>
        </p:nvSpPr>
        <p:spPr>
          <a:xfrm>
            <a:off x="6372225" y="3470275"/>
            <a:ext cx="4667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旅馆永远敞开，不困住任何一只虫子。自由来去的住客，才是可持续的观察对象。</a:t>
            </a:r>
            <a:endParaRPr sz="139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47700" y="4271010"/>
            <a:ext cx="5219700" cy="1516380"/>
          </a:xfrm>
          <a:prstGeom prst="roundRect">
            <a:avLst>
              <a:gd name="adj" fmla="val 11921"/>
            </a:avLst>
          </a:prstGeom>
          <a:solidFill>
            <a:srgbClr val="F9FAF5"/>
          </a:solidFill>
          <a:ln w="9525">
            <a:solidFill>
              <a:srgbClr val="D7DED2"/>
            </a:solidFill>
          </a:ln>
        </p:spPr>
      </p:sp>
      <p:sp>
        <p:nvSpPr>
          <p:cNvPr id="16" name="SENSE / 更丰富的感知"/>
          <p:cNvSpPr>
            <a:spLocks noGrp="1"/>
          </p:cNvSpPr>
          <p:nvPr/>
        </p:nvSpPr>
        <p:spPr>
          <a:xfrm>
            <a:off x="885825" y="4442460"/>
            <a:ext cx="45720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SENSE / 更丰富的感知</a:t>
            </a:r>
            <a:endParaRPr sz="10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听见、看见微气候"/>
          <p:cNvSpPr>
            <a:spLocks noGrp="1"/>
          </p:cNvSpPr>
          <p:nvPr/>
        </p:nvSpPr>
        <p:spPr>
          <a:xfrm>
            <a:off x="885825" y="4747260"/>
            <a:ext cx="4667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听见、看见微气候</a:t>
            </a:r>
            <a:endParaRPr sz="19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在温湿度与光照之外，未来加入声音和低功耗"/>
          <p:cNvSpPr>
            <a:spLocks noGrp="1"/>
          </p:cNvSpPr>
          <p:nvPr/>
        </p:nvSpPr>
        <p:spPr>
          <a:xfrm>
            <a:off x="885825" y="5147310"/>
            <a:ext cx="4667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在温湿度与光照之外，未来加入声音和低功耗影像，让孩子读到更完整的自然现场。</a:t>
            </a:r>
            <a:endParaRPr sz="139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134100" y="4271010"/>
            <a:ext cx="5219700" cy="1517650"/>
          </a:xfrm>
          <a:prstGeom prst="roundRect">
            <a:avLst>
              <a:gd name="adj" fmla="val 11921"/>
            </a:avLst>
          </a:prstGeom>
          <a:solidFill>
            <a:srgbClr val="F9FAF5"/>
          </a:solidFill>
          <a:ln w="9525">
            <a:solidFill>
              <a:srgbClr val="D7DED2"/>
            </a:solidFill>
          </a:ln>
        </p:spPr>
      </p:sp>
      <p:sp>
        <p:nvSpPr>
          <p:cNvPr id="20" name="ATLAS / 共同的年鉴"/>
          <p:cNvSpPr>
            <a:spLocks noGrp="1"/>
          </p:cNvSpPr>
          <p:nvPr/>
        </p:nvSpPr>
        <p:spPr>
          <a:xfrm>
            <a:off x="6372225" y="4442460"/>
            <a:ext cx="45720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ATLAS / 共同的年鉴</a:t>
            </a:r>
            <a:endParaRPr sz="10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汇成自然中国年鉴"/>
          <p:cNvSpPr>
            <a:spLocks noGrp="1"/>
          </p:cNvSpPr>
          <p:nvPr/>
        </p:nvSpPr>
        <p:spPr>
          <a:xfrm>
            <a:off x="6372225" y="4747260"/>
            <a:ext cx="4667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汇成自然中国年鉴</a:t>
            </a:r>
            <a:endParaRPr sz="19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把不同地区、不同季节的观察汇聚起来，成为"/>
          <p:cNvSpPr>
            <a:spLocks noGrp="1"/>
          </p:cNvSpPr>
          <p:nvPr/>
        </p:nvSpPr>
        <p:spPr>
          <a:xfrm>
            <a:off x="6372225" y="5147310"/>
            <a:ext cx="4667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9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把不同地区、不同季节的观察汇聚起来，成为城乡孩子共同书写的自然年鉴。</a:t>
            </a:r>
            <a:endParaRPr sz="139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虫宿博物志  BugAtlas-Chin"/>
          <p:cNvSpPr>
            <a:spLocks noGrp="1"/>
          </p:cNvSpPr>
          <p:nvPr/>
        </p:nvSpPr>
        <p:spPr>
          <a:xfrm>
            <a:off x="647700" y="200025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虫宿博物志  BugAtlas-China</a:t>
            </a:r>
            <a:endParaRPr sz="9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10"/>
          <p:cNvSpPr>
            <a:spLocks noGrp="1"/>
          </p:cNvSpPr>
          <p:nvPr/>
        </p:nvSpPr>
        <p:spPr>
          <a:xfrm>
            <a:off x="10572750" y="5476875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6000" b="1">
              <a:solidFill>
                <a:srgbClr val="E8ECE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10 / 13"/>
          <p:cNvSpPr>
            <a:spLocks noGrp="1"/>
          </p:cNvSpPr>
          <p:nvPr/>
        </p:nvSpPr>
        <p:spPr>
          <a:xfrm>
            <a:off x="10858500" y="6505575"/>
            <a:ext cx="9144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9 / 项目任务与分工"/>
          <p:cNvSpPr>
            <a:spLocks noGrp="1"/>
          </p:cNvSpPr>
          <p:nvPr/>
        </p:nvSpPr>
        <p:spPr>
          <a:xfrm>
            <a:off x="647700" y="60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项目任务与分工</a:t>
            </a:r>
            <a:endParaRPr sz="112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四个方向，支撑从想法到作品。"/>
          <p:cNvSpPr>
            <a:spLocks noGrp="1"/>
          </p:cNvSpPr>
          <p:nvPr/>
        </p:nvSpPr>
        <p:spPr>
          <a:xfrm>
            <a:off x="647700" y="1057275"/>
            <a:ext cx="9144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525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项目任务与分工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6" name="按成果环节划分工作任务"/>
          <p:cNvSpPr>
            <a:spLocks noGrp="1"/>
          </p:cNvSpPr>
          <p:nvPr/>
        </p:nvSpPr>
        <p:spPr>
          <a:xfrm>
            <a:off x="8858250" y="8953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按成果环节划分工作任务</a:t>
            </a:r>
            <a:endParaRPr sz="12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7225" y="3028950"/>
            <a:ext cx="10858500" cy="0"/>
          </a:xfrm>
          <a:prstGeom prst="line">
            <a:avLst/>
          </a:prstGeom>
          <a:noFill/>
          <a:ln w="9525">
            <a:solidFill>
              <a:srgbClr val="CDD7CB"/>
            </a:solidFill>
          </a:ln>
        </p:spPr>
      </p:sp>
      <p:sp>
        <p:nvSpPr>
          <p:cNvPr id="8" name="0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57225" y="2409825"/>
            <a:ext cx="552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2100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林知远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371600" y="2371725"/>
            <a:ext cx="1581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en-US" altLang="zh-CN" sz="22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thyssen</a:t>
            </a:r>
            <a:endParaRPr lang="en-US" altLang="zh-CN" sz="22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项目统筹与路演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171825" y="2428875"/>
            <a:ext cx="247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6879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66879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项目统筹与路演</a:t>
            </a:r>
            <a:endParaRPr sz="1650" b="1">
              <a:solidFill>
                <a:srgbClr val="66879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梳理主题、安排进度，负责演示稿与现场协调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810250" y="2438400"/>
            <a:ext cx="56483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6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6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梳理主题、安排进度，负责演示稿与现场协调</a:t>
            </a:r>
            <a:endParaRPr sz="1465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57225" y="3905250"/>
            <a:ext cx="10858500" cy="0"/>
          </a:xfrm>
          <a:prstGeom prst="line">
            <a:avLst/>
          </a:prstGeom>
          <a:noFill/>
          <a:ln w="9525">
            <a:solidFill>
              <a:srgbClr val="CDD7CB"/>
            </a:solidFill>
          </a:ln>
        </p:spPr>
      </p:sp>
      <p:sp>
        <p:nvSpPr>
          <p:cNvPr id="13" name="0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57225" y="3286125"/>
            <a:ext cx="552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2100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陈雨禾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371600" y="3248025"/>
            <a:ext cx="1581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en-US" altLang="zh-CN" sz="22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yuxian0905</a:t>
            </a:r>
            <a:endParaRPr lang="en-US" altLang="zh-CN" sz="22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硬件与传感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171825" y="3305175"/>
            <a:ext cx="247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6879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66879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硬件与传感</a:t>
            </a:r>
            <a:endParaRPr sz="1650" b="1">
              <a:solidFill>
                <a:srgbClr val="66879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搭建旅馆样机，接入 Arduino 与温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810250" y="3314700"/>
            <a:ext cx="56483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6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6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设计接线，编写 Arduino 温湿度与光照采集固件</a:t>
            </a:r>
            <a:endParaRPr sz="1465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57225" y="4781550"/>
            <a:ext cx="10858500" cy="0"/>
          </a:xfrm>
          <a:prstGeom prst="line">
            <a:avLst/>
          </a:prstGeom>
          <a:noFill/>
          <a:ln w="9525">
            <a:solidFill>
              <a:srgbClr val="CDD7CB"/>
            </a:solidFill>
          </a:ln>
        </p:spPr>
      </p:sp>
      <p:sp>
        <p:nvSpPr>
          <p:cNvPr id="18" name="0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57225" y="4162425"/>
            <a:ext cx="552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2100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周牧青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371600" y="4124325"/>
            <a:ext cx="1581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en-US" altLang="zh-CN" sz="22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window</a:t>
            </a:r>
            <a:endParaRPr lang="en-US" altLang="zh-CN" sz="22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小程序与本地服务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3171825" y="4181475"/>
            <a:ext cx="247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6879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66879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小程序与本地服务</a:t>
            </a:r>
            <a:endParaRPr sz="1650" b="1">
              <a:solidFill>
                <a:srgbClr val="66879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完成观察记录、明信片页面和串口数据接入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810250" y="4191000"/>
            <a:ext cx="56483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6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6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完成观察记录、明信片页面和串口数据接入</a:t>
            </a:r>
            <a:endParaRPr sz="1465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57225" y="5657850"/>
            <a:ext cx="10858500" cy="0"/>
          </a:xfrm>
          <a:prstGeom prst="line">
            <a:avLst/>
          </a:prstGeom>
          <a:noFill/>
          <a:ln w="9525">
            <a:solidFill>
              <a:srgbClr val="CDD7CB"/>
            </a:solidFill>
          </a:ln>
        </p:spPr>
      </p:sp>
      <p:sp>
        <p:nvSpPr>
          <p:cNvPr id="23" name="04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57225" y="5038725"/>
            <a:ext cx="552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2100" b="1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许沐岚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1371600" y="5000625"/>
            <a:ext cx="1581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en-US" altLang="zh-CN" sz="2250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hrq553</a:t>
            </a:r>
            <a:endParaRPr lang="en-US" altLang="zh-CN" sz="2250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AI 内容与视觉测试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3171825" y="5057775"/>
            <a:ext cx="247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6879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66879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 内容与视觉测试</a:t>
            </a:r>
            <a:endParaRPr sz="1650" b="1">
              <a:solidFill>
                <a:srgbClr val="66879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设计候选分析与儿童讲解，统一视觉并检查体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5810250" y="5067300"/>
            <a:ext cx="56483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6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65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设计候选分析与儿童讲解，统一视觉并检查体验</a:t>
            </a:r>
            <a:endParaRPr sz="1465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虫宿博物志  BugAtlas-Chin"/>
          <p:cNvSpPr>
            <a:spLocks noGrp="1"/>
          </p:cNvSpPr>
          <p:nvPr/>
        </p:nvSpPr>
        <p:spPr>
          <a:xfrm>
            <a:off x="647700" y="200025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虫宿博物志  BugAtlas-China</a:t>
            </a:r>
            <a:endParaRPr sz="9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11"/>
          <p:cNvSpPr>
            <a:spLocks noGrp="1"/>
          </p:cNvSpPr>
          <p:nvPr/>
        </p:nvSpPr>
        <p:spPr>
          <a:xfrm>
            <a:off x="10572750" y="5476875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6000" b="1">
              <a:solidFill>
                <a:srgbClr val="E8ECE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11 / 13"/>
          <p:cNvSpPr>
            <a:spLocks noGrp="1"/>
          </p:cNvSpPr>
          <p:nvPr/>
        </p:nvSpPr>
        <p:spPr>
          <a:xfrm>
            <a:off x="10858500" y="6505575"/>
            <a:ext cx="9144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0 / 活动心得"/>
          <p:cNvSpPr>
            <a:spLocks noGrp="1"/>
          </p:cNvSpPr>
          <p:nvPr/>
        </p:nvSpPr>
        <p:spPr>
          <a:xfrm>
            <a:off x="647700" y="60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活动心得</a:t>
            </a:r>
            <a:endParaRPr sz="112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一次创客马拉松，&#10;让我们学会先把想法跑通"/>
          <p:cNvSpPr>
            <a:spLocks noGrp="1"/>
          </p:cNvSpPr>
          <p:nvPr/>
        </p:nvSpPr>
        <p:spPr>
          <a:xfrm>
            <a:off x="647700" y="981075"/>
            <a:ext cx="781050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一次创客马拉松，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让我们学会先把想法跑通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6" name="方案设计与联调收获"/>
          <p:cNvSpPr>
            <a:spLocks noGrp="1"/>
          </p:cNvSpPr>
          <p:nvPr/>
        </p:nvSpPr>
        <p:spPr>
          <a:xfrm>
            <a:off x="8858250" y="8953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方案设计与联调收获</a:t>
            </a:r>
            <a:endParaRPr sz="12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01"/>
          <p:cNvSpPr>
            <a:spLocks noGrp="1"/>
          </p:cNvSpPr>
          <p:nvPr/>
        </p:nvSpPr>
        <p:spPr>
          <a:xfrm>
            <a:off x="666750" y="2543175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0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把问题说清楚"/>
          <p:cNvSpPr>
            <a:spLocks noGrp="1"/>
          </p:cNvSpPr>
          <p:nvPr/>
        </p:nvSpPr>
        <p:spPr>
          <a:xfrm>
            <a:off x="1333500" y="2505075"/>
            <a:ext cx="2800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把问题说清楚</a:t>
            </a:r>
            <a:endParaRPr sz="21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起初我们想到的是“识别昆虫”。讨论后，我"/>
          <p:cNvSpPr>
            <a:spLocks noGrp="1"/>
          </p:cNvSpPr>
          <p:nvPr/>
        </p:nvSpPr>
        <p:spPr>
          <a:xfrm>
            <a:off x="4238625" y="2514600"/>
            <a:ext cx="71818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起初我们想到的是“识别昆虫”。讨论后，我们把重点放到孩子能否持续观察、提问与交流。</a:t>
            </a:r>
            <a:endParaRPr sz="165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66750" y="3467100"/>
            <a:ext cx="10848975" cy="0"/>
          </a:xfrm>
          <a:prstGeom prst="line">
            <a:avLst/>
          </a:prstGeom>
          <a:noFill/>
          <a:ln w="9525">
            <a:solidFill>
              <a:srgbClr val="D1D9CE"/>
            </a:solidFill>
          </a:ln>
        </p:spPr>
      </p:sp>
      <p:sp>
        <p:nvSpPr>
          <p:cNvPr id="11" name="02"/>
          <p:cNvSpPr>
            <a:spLocks noGrp="1"/>
          </p:cNvSpPr>
          <p:nvPr/>
        </p:nvSpPr>
        <p:spPr>
          <a:xfrm>
            <a:off x="666750" y="3686175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让样机接受检验"/>
          <p:cNvSpPr>
            <a:spLocks noGrp="1"/>
          </p:cNvSpPr>
          <p:nvPr/>
        </p:nvSpPr>
        <p:spPr>
          <a:xfrm>
            <a:off x="1333500" y="3648075"/>
            <a:ext cx="2800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让样机接受检验</a:t>
            </a:r>
            <a:endParaRPr sz="21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硬件、小程序和 AI 各自可用，仍不等于"/>
          <p:cNvSpPr>
            <a:spLocks noGrp="1"/>
          </p:cNvSpPr>
          <p:nvPr/>
        </p:nvSpPr>
        <p:spPr>
          <a:xfrm>
            <a:off x="4238625" y="3657600"/>
            <a:ext cx="71818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硬件、小程序和 AI 各自可用，仍不等于完整体验。串起观察流程后，才看见数据衔接和断网兜底的问题。</a:t>
            </a:r>
            <a:endParaRPr sz="165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666750" y="4610100"/>
            <a:ext cx="10848975" cy="0"/>
          </a:xfrm>
          <a:prstGeom prst="line">
            <a:avLst/>
          </a:prstGeom>
          <a:noFill/>
          <a:ln w="9525">
            <a:solidFill>
              <a:srgbClr val="D1D9CE"/>
            </a:solidFill>
          </a:ln>
        </p:spPr>
      </p:sp>
      <p:sp>
        <p:nvSpPr>
          <p:cNvPr id="15" name="03"/>
          <p:cNvSpPr>
            <a:spLocks noGrp="1"/>
          </p:cNvSpPr>
          <p:nvPr/>
        </p:nvSpPr>
        <p:spPr>
          <a:xfrm>
            <a:off x="666750" y="4829175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在分工里保持沟通"/>
          <p:cNvSpPr>
            <a:spLocks noGrp="1"/>
          </p:cNvSpPr>
          <p:nvPr/>
        </p:nvSpPr>
        <p:spPr>
          <a:xfrm>
            <a:off x="1333500" y="4791075"/>
            <a:ext cx="2800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在分工里保持沟通</a:t>
            </a:r>
            <a:endParaRPr sz="217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硬件数据、界面字段和讲解文字需要对得上。"/>
          <p:cNvSpPr>
            <a:spLocks noGrp="1"/>
          </p:cNvSpPr>
          <p:nvPr/>
        </p:nvSpPr>
        <p:spPr>
          <a:xfrm>
            <a:off x="4238625" y="4800600"/>
            <a:ext cx="71818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硬件数据、界面字段和讲解文字需要对得上。每次短同步都比最后集中拼接更有效。</a:t>
            </a:r>
            <a:endParaRPr sz="165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66750" y="5753100"/>
            <a:ext cx="10848975" cy="0"/>
          </a:xfrm>
          <a:prstGeom prst="line">
            <a:avLst/>
          </a:prstGeom>
          <a:noFill/>
          <a:ln w="9525">
            <a:solidFill>
              <a:srgbClr val="D1D9CE"/>
            </a:solidFill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虫宿博物志  BugAtlas-Chin"/>
          <p:cNvSpPr>
            <a:spLocks noGrp="1"/>
          </p:cNvSpPr>
          <p:nvPr/>
        </p:nvSpPr>
        <p:spPr>
          <a:xfrm>
            <a:off x="647700" y="200025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虫宿博物志  BugAtlas-China</a:t>
            </a:r>
            <a:endParaRPr sz="9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12"/>
          <p:cNvSpPr>
            <a:spLocks noGrp="1"/>
          </p:cNvSpPr>
          <p:nvPr/>
        </p:nvSpPr>
        <p:spPr>
          <a:xfrm>
            <a:off x="10572750" y="5476875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6000" b="1">
                <a:solidFill>
                  <a:srgbClr val="E8ECE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6000" b="1">
              <a:solidFill>
                <a:srgbClr val="E8ECE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12 / 13"/>
          <p:cNvSpPr>
            <a:spLocks noGrp="1"/>
          </p:cNvSpPr>
          <p:nvPr/>
        </p:nvSpPr>
        <p:spPr>
          <a:xfrm>
            <a:off x="10858500" y="6505575"/>
            <a:ext cx="9144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13</a:t>
            </a:r>
            <a:endParaRPr sz="900" b="0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1 / 作业心得"/>
          <p:cNvSpPr>
            <a:spLocks noGrp="1"/>
          </p:cNvSpPr>
          <p:nvPr/>
        </p:nvSpPr>
        <p:spPr>
          <a:xfrm>
            <a:off x="647700" y="60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作业心得</a:t>
            </a:r>
            <a:endParaRPr sz="1125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交付作业时，&#10;更理解“可验证”的价值。"/>
          <p:cNvSpPr>
            <a:spLocks noGrp="1"/>
          </p:cNvSpPr>
          <p:nvPr/>
        </p:nvSpPr>
        <p:spPr>
          <a:xfrm>
            <a:off x="647700" y="981075"/>
            <a:ext cx="781050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交付作业时，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8000"/>
              </a:lnSpc>
              <a:buNone/>
              <a:defRPr sz="35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525" b="1">
                <a:solidFill>
                  <a:srgbClr val="455F4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更理解“可验证”的价值</a:t>
            </a:r>
            <a:endParaRPr sz="3525" b="1">
              <a:solidFill>
                <a:srgbClr val="455F4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代码实现与验证收获"/>
          <p:cNvSpPr>
            <a:spLocks noGrp="1"/>
          </p:cNvSpPr>
          <p:nvPr/>
        </p:nvSpPr>
        <p:spPr>
          <a:xfrm>
            <a:off x="8858250" y="8953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7087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代码实现与验证收获</a:t>
            </a:r>
            <a:endParaRPr sz="1275" b="0">
              <a:solidFill>
                <a:srgbClr val="7087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47700" y="2571750"/>
            <a:ext cx="5095875" cy="3114675"/>
          </a:xfrm>
          <a:prstGeom prst="roundRect">
            <a:avLst>
              <a:gd name="adj" fmla="val 5505"/>
            </a:avLst>
          </a:prstGeom>
          <a:solidFill>
            <a:srgbClr val="F9FAF5"/>
          </a:solidFill>
          <a:ln w="9525">
            <a:solidFill>
              <a:srgbClr val="D7DED2"/>
            </a:solidFill>
          </a:ln>
        </p:spPr>
      </p:sp>
      <p:sp>
        <p:nvSpPr>
          <p:cNvPr id="8" name="WE LEARNED / 我们学到的"/>
          <p:cNvSpPr>
            <a:spLocks noGrp="1"/>
          </p:cNvSpPr>
          <p:nvPr/>
        </p:nvSpPr>
        <p:spPr>
          <a:xfrm>
            <a:off x="923925" y="2847975"/>
            <a:ext cx="41910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087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 LEARNED / 我们学到的</a:t>
            </a:r>
            <a:endParaRPr sz="1050" b="1">
              <a:solidFill>
                <a:srgbClr val="7087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一张照片只是线索，&#10;温湿度和光照让观察&#10;"/>
          <p:cNvSpPr>
            <a:spLocks noGrp="1"/>
          </p:cNvSpPr>
          <p:nvPr/>
        </p:nvSpPr>
        <p:spPr>
          <a:xfrm>
            <a:off x="1703705" y="3357245"/>
            <a:ext cx="4352925" cy="1733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6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一张照片只是线索，</a:t>
            </a:r>
            <a:endParaRPr sz="262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2000"/>
              </a:lnSpc>
              <a:buNone/>
              <a:defRPr sz="26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6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温湿度和光照让观察</a:t>
            </a:r>
            <a:endParaRPr sz="262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2000"/>
              </a:lnSpc>
              <a:buNone/>
              <a:defRPr sz="26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625" b="1">
                <a:solidFill>
                  <a:srgbClr val="455F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有了可以回看的背景。</a:t>
            </a:r>
            <a:endParaRPr sz="2625" b="1">
              <a:solidFill>
                <a:srgbClr val="455F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科学表达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153150" y="25908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科学表达</a:t>
            </a:r>
            <a:endParaRPr sz="2025">
              <a:solidFill>
                <a:srgbClr val="A665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给出候选、依据和疑点，坦诚说明不确定性。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839075" y="2609850"/>
            <a:ext cx="36099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给出候选、依据和疑点，坦诚说明不确定性。</a:t>
            </a:r>
            <a:endParaRPr sz="150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143625" y="3467100"/>
            <a:ext cx="5372100" cy="0"/>
          </a:xfrm>
          <a:prstGeom prst="line">
            <a:avLst/>
          </a:prstGeom>
          <a:noFill/>
          <a:ln w="9525">
            <a:solidFill>
              <a:srgbClr val="D1D9CE"/>
            </a:solidFill>
          </a:ln>
        </p:spPr>
      </p:sp>
      <p:sp>
        <p:nvSpPr>
          <p:cNvPr id="13" name="完整记录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53150" y="363855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ClrTx/>
              <a:buSzTx/>
              <a:buFontTx/>
              <a:buNone/>
              <a:defRPr sz="202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完整记录</a:t>
            </a:r>
            <a:endParaRPr sz="2025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把地点、描述、照片和环境快照放在一张自然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839075" y="3657600"/>
            <a:ext cx="36099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把地点、描述、照片和环境快照放在一张自然明信片上。</a:t>
            </a:r>
            <a:endParaRPr sz="150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143625" y="4514850"/>
            <a:ext cx="5372100" cy="0"/>
          </a:xfrm>
          <a:prstGeom prst="line">
            <a:avLst/>
          </a:prstGeom>
          <a:noFill/>
          <a:ln w="9525">
            <a:solidFill>
              <a:srgbClr val="D1D9CE"/>
            </a:solidFill>
          </a:ln>
        </p:spPr>
      </p:sp>
      <p:sp>
        <p:nvSpPr>
          <p:cNvPr id="16" name="后续改进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153150" y="46863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ClrTx/>
              <a:buSzTx/>
              <a:buFontTx/>
              <a:buNone/>
              <a:defRPr sz="2025" b="1">
                <a:solidFill>
                  <a:srgbClr val="A665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后续改进</a:t>
            </a:r>
            <a:endParaRPr sz="2025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继续检查传感器稳定性，补充真实观察样本与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839075" y="4705350"/>
            <a:ext cx="36099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2637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继续检查传感器稳定性，补充真实观察样本与教师反馈。</a:t>
            </a:r>
            <a:endParaRPr sz="1500" b="0">
              <a:solidFill>
                <a:srgbClr val="2637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143625" y="5562600"/>
            <a:ext cx="5372100" cy="0"/>
          </a:xfrm>
          <a:prstGeom prst="line">
            <a:avLst/>
          </a:prstGeom>
          <a:noFill/>
          <a:ln w="9525">
            <a:solidFill>
              <a:srgbClr val="D1D9CE"/>
            </a:solidFill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7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虫宿博物志  /  BugAtlas-C"/>
          <p:cNvSpPr>
            <a:spLocks noGrp="1"/>
          </p:cNvSpPr>
          <p:nvPr/>
        </p:nvSpPr>
        <p:spPr>
          <a:xfrm>
            <a:off x="704850" y="685800"/>
            <a:ext cx="6096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A8B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A8B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虫宿博物志  /  BugAtlas-China</a:t>
            </a:r>
            <a:endParaRPr sz="1350" b="1">
              <a:solidFill>
                <a:srgbClr val="A8B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从一只小生命开始"/>
          <p:cNvSpPr>
            <a:spLocks noGrp="1"/>
          </p:cNvSpPr>
          <p:nvPr/>
        </p:nvSpPr>
        <p:spPr>
          <a:xfrm>
            <a:off x="704850" y="1971675"/>
            <a:ext cx="70008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4125" b="1">
                <a:solidFill>
                  <a:srgbClr val="F4F3E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4125" b="1">
                <a:solidFill>
                  <a:srgbClr val="F4F3EC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从一只小生命开始</a:t>
            </a:r>
            <a:endParaRPr sz="4125" b="1">
              <a:solidFill>
                <a:srgbClr val="F4F3EC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4" name="重新认识身边的自然"/>
          <p:cNvSpPr>
            <a:spLocks noGrp="1"/>
          </p:cNvSpPr>
          <p:nvPr/>
        </p:nvSpPr>
        <p:spPr>
          <a:xfrm>
            <a:off x="704850" y="2724150"/>
            <a:ext cx="70866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975" b="1">
                <a:solidFill>
                  <a:srgbClr val="F4F3E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975" b="1">
                <a:solidFill>
                  <a:srgbClr val="F4F3EC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重新认识</a:t>
            </a:r>
            <a:r>
              <a:rPr sz="4400" b="1">
                <a:solidFill>
                  <a:srgbClr val="B47654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身边的自然</a:t>
            </a:r>
            <a:endParaRPr sz="4400" b="1">
              <a:solidFill>
                <a:srgbClr val="F4F3EC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723900" y="3771900"/>
            <a:ext cx="5791200" cy="0"/>
          </a:xfrm>
          <a:prstGeom prst="line">
            <a:avLst/>
          </a:prstGeom>
          <a:noFill/>
          <a:ln w="19050">
            <a:solidFill>
              <a:srgbClr val="B7864B"/>
            </a:solidFill>
          </a:ln>
        </p:spPr>
      </p:sp>
      <p:sp>
        <p:nvSpPr>
          <p:cNvPr id="6" name="让人工智能陪孩子继续观察、记录、提问和交"/>
          <p:cNvSpPr>
            <a:spLocks noGrp="1"/>
          </p:cNvSpPr>
          <p:nvPr/>
        </p:nvSpPr>
        <p:spPr>
          <a:xfrm>
            <a:off x="723900" y="4086225"/>
            <a:ext cx="63436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E8ED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E8ED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让人工智能陪孩子继续观察、记录、提问和交流。</a:t>
            </a:r>
            <a:endParaRPr sz="1875" b="1">
              <a:solidFill>
                <a:srgbClr val="E8EDE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谢谢聆听"/>
          <p:cNvSpPr>
            <a:spLocks noGrp="1"/>
          </p:cNvSpPr>
          <p:nvPr/>
        </p:nvSpPr>
        <p:spPr>
          <a:xfrm>
            <a:off x="723900" y="565785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B7864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B7864B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谢谢聆听</a:t>
            </a:r>
            <a:endParaRPr sz="2025" b="1">
              <a:solidFill>
                <a:srgbClr val="B7864B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2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3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4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5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6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7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8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9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10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11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12.xml><?xml version="1.0" encoding="utf-8"?>
<p:tagLst xmlns:p="http://schemas.openxmlformats.org/presentationml/2006/main">
  <p:tag name="KSO_WM_DIAGRAM_VIRTUALLY_FRAME" val="{&quot;height&quot;:204,&quot;left&quot;:480.75,&quot;top&quot;:239.25,&quot;width&quot;:427.5}"/>
</p:tagLst>
</file>

<file path=ppt/tags/tag13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14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15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16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17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18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19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20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21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22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23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24.xml><?xml version="1.0" encoding="utf-8"?>
<p:tagLst xmlns:p="http://schemas.openxmlformats.org/presentationml/2006/main">
  <p:tag name="KSO_WM_DIAGRAM_VIRTUALLY_FRAME" val="{&quot;height&quot;:145.6,&quot;left&quot;:364.65,&quot;top&quot;:215.05,&quot;width&quot;:405.85000000000036}"/>
</p:tagLst>
</file>

<file path=ppt/tags/tag25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26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27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28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29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30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31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32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33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34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35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36.xml><?xml version="1.0" encoding="utf-8"?>
<p:tagLst xmlns:p="http://schemas.openxmlformats.org/presentationml/2006/main">
  <p:tag name="KSO_WM_DIAGRAM_VIRTUALLY_FRAME" val="{&quot;height&quot;:150,&quot;left&quot;:529.55,&quot;top&quot;:280.5,&quot;width&quot;:374.25}"/>
</p:tagLst>
</file>

<file path=ppt/tags/tag37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38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39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40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41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42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43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44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45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46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47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48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49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50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51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52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53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54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55.xml><?xml version="1.0" encoding="utf-8"?>
<p:tagLst xmlns:p="http://schemas.openxmlformats.org/presentationml/2006/main">
  <p:tag name="KSO_WM_DIAGRAM_VIRTUALLY_FRAME" val="{&quot;height&quot;:243.75,&quot;left&quot;:51.75,&quot;top&quot;:186.75,&quot;width&quot;:855}"/>
</p:tagLst>
</file>

<file path=ppt/tags/tag56.xml><?xml version="1.0" encoding="utf-8"?>
<p:tagLst xmlns:p="http://schemas.openxmlformats.org/presentationml/2006/main">
  <p:tag name="KSO_WM_DIAGRAM_VIRTUALLY_FRAME" val="{&quot;height&quot;:234,&quot;left&quot;:483.75,&quot;top&quot;:204,&quot;width&quot;:423}"/>
</p:tagLst>
</file>

<file path=ppt/tags/tag57.xml><?xml version="1.0" encoding="utf-8"?>
<p:tagLst xmlns:p="http://schemas.openxmlformats.org/presentationml/2006/main">
  <p:tag name="KSO_WM_DIAGRAM_VIRTUALLY_FRAME" val="{&quot;height&quot;:234,&quot;left&quot;:483.75,&quot;top&quot;:204,&quot;width&quot;:423}"/>
</p:tagLst>
</file>

<file path=ppt/tags/tag58.xml><?xml version="1.0" encoding="utf-8"?>
<p:tagLst xmlns:p="http://schemas.openxmlformats.org/presentationml/2006/main">
  <p:tag name="KSO_WM_DIAGRAM_VIRTUALLY_FRAME" val="{&quot;height&quot;:234,&quot;left&quot;:483.75,&quot;top&quot;:204,&quot;width&quot;:423}"/>
</p:tagLst>
</file>

<file path=ppt/tags/tag59.xml><?xml version="1.0" encoding="utf-8"?>
<p:tagLst xmlns:p="http://schemas.openxmlformats.org/presentationml/2006/main">
  <p:tag name="KSO_WM_DIAGRAM_VIRTUALLY_FRAME" val="{&quot;height&quot;:234,&quot;left&quot;:483.75,&quot;top&quot;:204,&quot;width&quot;:423}"/>
</p:tagLst>
</file>

<file path=ppt/tags/tag60.xml><?xml version="1.0" encoding="utf-8"?>
<p:tagLst xmlns:p="http://schemas.openxmlformats.org/presentationml/2006/main">
  <p:tag name="KSO_WM_DIAGRAM_VIRTUALLY_FRAME" val="{&quot;height&quot;:234,&quot;left&quot;:483.75,&quot;top&quot;:204,&quot;width&quot;:423}"/>
</p:tagLst>
</file>

<file path=ppt/tags/tag61.xml><?xml version="1.0" encoding="utf-8"?>
<p:tagLst xmlns:p="http://schemas.openxmlformats.org/presentationml/2006/main">
  <p:tag name="KSO_WM_DIAGRAM_VIRTUALLY_FRAME" val="{&quot;height&quot;:234,&quot;left&quot;:483.75,&quot;top&quot;:204,&quot;width&quot;:423}"/>
</p:tagLst>
</file>

<file path=ppt/tags/tag62.xml><?xml version="1.0" encoding="utf-8"?>
<p:tagLst xmlns:p="http://schemas.openxmlformats.org/presentationml/2006/main">
  <p:tag name="KSO_WM_DIAGRAM_VIRTUALLY_FRAME" val="{&quot;height&quot;:234,&quot;left&quot;:483.75,&quot;top&quot;:204,&quot;width&quot;:423}"/>
</p:tagLst>
</file>

<file path=ppt/tags/tag63.xml><?xml version="1.0" encoding="utf-8"?>
<p:tagLst xmlns:p="http://schemas.openxmlformats.org/presentationml/2006/main">
  <p:tag name="KSO_WM_DIAGRAM_VIRTUALLY_FRAME" val="{&quot;height&quot;:234,&quot;left&quot;:483.75,&quot;top&quot;:204,&quot;width&quot;:423}"/>
</p:tagLst>
</file>

<file path=ppt/tags/tag64.xml><?xml version="1.0" encoding="utf-8"?>
<p:tagLst xmlns:p="http://schemas.openxmlformats.org/presentationml/2006/main">
  <p:tag name="KSO_WM_DIAGRAM_VIRTUALLY_FRAME" val="{&quot;height&quot;:234,&quot;left&quot;:483.75,&quot;top&quot;:204,&quot;width&quot;:423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2661</Words>
  <Application>WPS 演示</Application>
  <PresentationFormat>Converted Presentation</PresentationFormat>
  <Paragraphs>430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黑体</vt:lpstr>
      <vt:lpstr>Britannic Bold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宫天成</cp:lastModifiedBy>
  <cp:revision>5</cp:revision>
  <dcterms:created xsi:type="dcterms:W3CDTF">2026-10-01T03:09:00Z</dcterms:created>
  <dcterms:modified xsi:type="dcterms:W3CDTF">2026-10-01T13:31:38Z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C6F4C1FAB4094C07AE949A99395B96D1_12</vt:lpwstr>
  </property>
  <property fmtid="{D5CDD505-2E9C-101B-9397-08002B2CF9AE}" pid="3" name="KSOProductBuildVer">
    <vt:lpwstr>2052-12.1.0.28505</vt:lpwstr>
  </property>
</Properties>
</file>